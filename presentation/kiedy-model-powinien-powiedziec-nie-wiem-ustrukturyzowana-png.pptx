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a6b0905b654834" /><Relationship Type="http://schemas.openxmlformats.org/officeDocument/2006/relationships/extended-properties" Target="/docProps/app.xml" Id="R79c245fdb85f4864" /><Relationship Type="http://schemas.openxmlformats.org/officeDocument/2006/relationships/officeDocument" Target="/ppt/presentation.xml" Id="R4986d494f26444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8afe39c1a74a51"/>
  </p:sldMasterIdLst>
  <p:notesMasterIdLst>
    <p:notesMasterId xmlns:r="http://schemas.openxmlformats.org/officeDocument/2006/relationships" r:id="R0fb2186f1e7845e0"/>
  </p:notesMasterIdLst>
  <p:sldIdLst>
    <p:sldId xmlns:r="http://schemas.openxmlformats.org/officeDocument/2006/relationships" id="256" r:id="Rf379a33a67054e18"/>
    <p:sldId xmlns:r="http://schemas.openxmlformats.org/officeDocument/2006/relationships" id="257" r:id="Rf71ed8dfdf3e41ac"/>
    <p:sldId xmlns:r="http://schemas.openxmlformats.org/officeDocument/2006/relationships" id="258" r:id="R81ce5a3756774d42"/>
    <p:sldId xmlns:r="http://schemas.openxmlformats.org/officeDocument/2006/relationships" id="259" r:id="R4c25599897a14538"/>
    <p:sldId xmlns:r="http://schemas.openxmlformats.org/officeDocument/2006/relationships" id="260" r:id="R673145a732ef436a"/>
    <p:sldId xmlns:r="http://schemas.openxmlformats.org/officeDocument/2006/relationships" id="261" r:id="Rb42d453ee40c4ca6"/>
    <p:sldId xmlns:r="http://schemas.openxmlformats.org/officeDocument/2006/relationships" id="262" r:id="Rdd812d7d44214729"/>
    <p:sldId xmlns:r="http://schemas.openxmlformats.org/officeDocument/2006/relationships" id="263" r:id="R29468e257d8747d7"/>
    <p:sldId xmlns:r="http://schemas.openxmlformats.org/officeDocument/2006/relationships" id="264" r:id="R42ea052447e74b39"/>
    <p:sldId xmlns:r="http://schemas.openxmlformats.org/officeDocument/2006/relationships" id="265" r:id="R6f489f80b63444b8"/>
    <p:sldId xmlns:r="http://schemas.openxmlformats.org/officeDocument/2006/relationships" id="266" r:id="R54df42adb4314eae"/>
    <p:sldId xmlns:r="http://schemas.openxmlformats.org/officeDocument/2006/relationships" id="267" r:id="Ra7724c76d7524bab"/>
    <p:sldId xmlns:r="http://schemas.openxmlformats.org/officeDocument/2006/relationships" id="268" r:id="R6dcd78cc9fb24d2b"/>
    <p:sldId xmlns:r="http://schemas.openxmlformats.org/officeDocument/2006/relationships" id="269" r:id="R11bd3b8736d94b22"/>
    <p:sldId xmlns:r="http://schemas.openxmlformats.org/officeDocument/2006/relationships" id="270" r:id="R066dd6322b3648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afe39c1a74a51" /><Relationship Type="http://schemas.openxmlformats.org/officeDocument/2006/relationships/theme" Target="/ppt/theme/theme1.xml" Id="R1b87994422af425e" /><Relationship Type="http://schemas.openxmlformats.org/officeDocument/2006/relationships/notesMaster" Target="/ppt/notesMasters/notesMaster1.xml" Id="R0fb2186f1e7845e0" /><Relationship Type="http://schemas.openxmlformats.org/officeDocument/2006/relationships/presProps" Target="/ppt/presProps.xml" Id="Rba511ea9b20247b2" /><Relationship Type="http://schemas.openxmlformats.org/officeDocument/2006/relationships/viewProps" Target="/ppt/viewProps.xml" Id="R01a2ba2b103b43f0" /><Relationship Type="http://schemas.openxmlformats.org/officeDocument/2006/relationships/tableStyles" Target="/ppt/tableStyles.xml" Id="R2b5e51e4104345c0" /><Relationship Type="http://schemas.openxmlformats.org/officeDocument/2006/relationships/slide" Target="/ppt/slides/slide1.xml" Id="Rf379a33a67054e18" /><Relationship Type="http://schemas.openxmlformats.org/officeDocument/2006/relationships/slide" Target="/ppt/slides/slide2.xml" Id="Rf71ed8dfdf3e41ac" /><Relationship Type="http://schemas.openxmlformats.org/officeDocument/2006/relationships/slide" Target="/ppt/slides/slide3.xml" Id="R81ce5a3756774d42" /><Relationship Type="http://schemas.openxmlformats.org/officeDocument/2006/relationships/slide" Target="/ppt/slides/slide4.xml" Id="R4c25599897a14538" /><Relationship Type="http://schemas.openxmlformats.org/officeDocument/2006/relationships/slide" Target="/ppt/slides/slide5.xml" Id="R673145a732ef436a" /><Relationship Type="http://schemas.openxmlformats.org/officeDocument/2006/relationships/slide" Target="/ppt/slides/slide6.xml" Id="Rb42d453ee40c4ca6" /><Relationship Type="http://schemas.openxmlformats.org/officeDocument/2006/relationships/slide" Target="/ppt/slides/slide7.xml" Id="Rdd812d7d44214729" /><Relationship Type="http://schemas.openxmlformats.org/officeDocument/2006/relationships/slide" Target="/ppt/slides/slide8.xml" Id="R29468e257d8747d7" /><Relationship Type="http://schemas.openxmlformats.org/officeDocument/2006/relationships/slide" Target="/ppt/slides/slide9.xml" Id="R42ea052447e74b39" /><Relationship Type="http://schemas.openxmlformats.org/officeDocument/2006/relationships/slide" Target="/ppt/slides/slide10.xml" Id="R6f489f80b63444b8" /><Relationship Type="http://schemas.openxmlformats.org/officeDocument/2006/relationships/slide" Target="/ppt/slides/slide11.xml" Id="R54df42adb4314eae" /><Relationship Type="http://schemas.openxmlformats.org/officeDocument/2006/relationships/slide" Target="/ppt/slides/slide12.xml" Id="Ra7724c76d7524bab" /><Relationship Type="http://schemas.openxmlformats.org/officeDocument/2006/relationships/slide" Target="/ppt/slides/slide13.xml" Id="R6dcd78cc9fb24d2b" /><Relationship Type="http://schemas.openxmlformats.org/officeDocument/2006/relationships/slide" Target="/ppt/slides/slide14.xml" Id="R11bd3b8736d94b22" /><Relationship Type="http://schemas.openxmlformats.org/officeDocument/2006/relationships/slide" Target="/ppt/slides/slide15.xml" Id="R066dd6322b3648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735fc07994340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b79eecb0f54849" /><Relationship Type="http://schemas.openxmlformats.org/officeDocument/2006/relationships/notesMaster" Target="/ppt/notesMasters/notesMaster1.xml" Id="Rc2b37fc6282e45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214b3d2d244795" /><Relationship Type="http://schemas.openxmlformats.org/officeDocument/2006/relationships/notesMaster" Target="/ppt/notesMasters/notesMaster1.xml" Id="R7935e36f677d43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66fdba291e4fdd" /><Relationship Type="http://schemas.openxmlformats.org/officeDocument/2006/relationships/notesMaster" Target="/ppt/notesMasters/notesMaster1.xml" Id="Rc999c71f557d43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ff4ff51e0c402d" /><Relationship Type="http://schemas.openxmlformats.org/officeDocument/2006/relationships/notesMaster" Target="/ppt/notesMasters/notesMaster1.xml" Id="R1fa5ea35690441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0e28dc525d4cd3" /><Relationship Type="http://schemas.openxmlformats.org/officeDocument/2006/relationships/notesMaster" Target="/ppt/notesMasters/notesMaster1.xml" Id="R25c6f461cd8144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f01856c03341ec" /><Relationship Type="http://schemas.openxmlformats.org/officeDocument/2006/relationships/notesMaster" Target="/ppt/notesMasters/notesMaster1.xml" Id="R26e0216c18bd40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4f690bc04b4a96" /><Relationship Type="http://schemas.openxmlformats.org/officeDocument/2006/relationships/notesMaster" Target="/ppt/notesMasters/notesMaster1.xml" Id="R2fb48c25611e45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8504204ea94382" /><Relationship Type="http://schemas.openxmlformats.org/officeDocument/2006/relationships/notesMaster" Target="/ppt/notesMasters/notesMaster1.xml" Id="R25972973354d40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46d0477be84e60" /><Relationship Type="http://schemas.openxmlformats.org/officeDocument/2006/relationships/notesMaster" Target="/ppt/notesMasters/notesMaster1.xml" Id="Rdb884ea86f9743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f308b2af1f472b" /><Relationship Type="http://schemas.openxmlformats.org/officeDocument/2006/relationships/notesMaster" Target="/ppt/notesMasters/notesMaster1.xml" Id="R01a6f42cd5e446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b56359aada41d8" /><Relationship Type="http://schemas.openxmlformats.org/officeDocument/2006/relationships/notesMaster" Target="/ppt/notesMasters/notesMaster1.xml" Id="R861876f25ddc48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a64c1ee8214f1f" /><Relationship Type="http://schemas.openxmlformats.org/officeDocument/2006/relationships/notesMaster" Target="/ppt/notesMasters/notesMaster1.xml" Id="R85702fc7bc574b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82e3a1307a4020" /><Relationship Type="http://schemas.openxmlformats.org/officeDocument/2006/relationships/notesMaster" Target="/ppt/notesMasters/notesMaster1.xml" Id="R33829583a4cd48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b70c53c92a4a43" /><Relationship Type="http://schemas.openxmlformats.org/officeDocument/2006/relationships/notesMaster" Target="/ppt/notesMasters/notesMaster1.xml" Id="R9148701911ea40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c97e0c4c924314" /><Relationship Type="http://schemas.openxmlformats.org/officeDocument/2006/relationships/notesMaster" Target="/ppt/notesMasters/notesMaster1.xml" Id="R8f5b645ba3bf44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727e6573a4bc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2d9b12d21384eb9" /><Relationship Type="http://schemas.openxmlformats.org/officeDocument/2006/relationships/slideLayout" Target="/ppt/slideLayouts/slideLayout2.xml" Id="R7e3456d94aae43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3456d94aae43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45199757dc44e8" /><Relationship Type="http://schemas.openxmlformats.org/officeDocument/2006/relationships/notesSlide" Target="/ppt/notesSlides/notesSlide1.xml" Id="Rcf8ec067379d48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86d373688b4ea1" /><Relationship Type="http://schemas.openxmlformats.org/officeDocument/2006/relationships/image" Target="/ppt/media/image.png" Id="R6d47d54d886c486a" /><Relationship Type="http://schemas.openxmlformats.org/officeDocument/2006/relationships/notesSlide" Target="/ppt/notesSlides/notesSlide2.xml" Id="R6f98ec3c27bf44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3c94a5fbc64542" /><Relationship Type="http://schemas.openxmlformats.org/officeDocument/2006/relationships/notesSlide" Target="/ppt/notesSlides/notesSlide3.xml" Id="R046fba99a76c40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77e1f9823b45df" /><Relationship Type="http://schemas.openxmlformats.org/officeDocument/2006/relationships/notesSlide" Target="/ppt/notesSlides/notesSlide4.xml" Id="R76558876511042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15bc48404f403a" /><Relationship Type="http://schemas.openxmlformats.org/officeDocument/2006/relationships/notesSlide" Target="/ppt/notesSlides/notesSlide5.xml" Id="Rc250bd68ef9b42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b320b3a50e460a" /><Relationship Type="http://schemas.openxmlformats.org/officeDocument/2006/relationships/notesSlide" Target="/ppt/notesSlides/notesSlide6.xml" Id="Rde55e10f4ade4c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66f2deabf0472c" /><Relationship Type="http://schemas.openxmlformats.org/officeDocument/2006/relationships/notesSlide" Target="/ppt/notesSlides/notesSlide7.xml" Id="R3fc17470c32641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fef55f4151431a" /><Relationship Type="http://schemas.openxmlformats.org/officeDocument/2006/relationships/notesSlide" Target="/ppt/notesSlides/notesSlide8.xml" Id="R9b8b5341359343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e6954d1da9482c" /><Relationship Type="http://schemas.openxmlformats.org/officeDocument/2006/relationships/notesSlide" Target="/ppt/notesSlides/notesSlide9.xml" Id="Ra99ae642e0d341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670a444b59497d" /><Relationship Type="http://schemas.openxmlformats.org/officeDocument/2006/relationships/image" Target="/ppt/media/image2.png" Id="Rd24990769e634c98" /><Relationship Type="http://schemas.openxmlformats.org/officeDocument/2006/relationships/image" Target="/ppt/media/image3.png" Id="R83a45d0bf89242ce" /><Relationship Type="http://schemas.openxmlformats.org/officeDocument/2006/relationships/notesSlide" Target="/ppt/notesSlides/notesSlide10.xml" Id="R4b53e8afc87a4d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7f41beb5704f5e" /><Relationship Type="http://schemas.openxmlformats.org/officeDocument/2006/relationships/image" Target="/ppt/media/image4.png" Id="R3bbce0299f3b403e" /><Relationship Type="http://schemas.openxmlformats.org/officeDocument/2006/relationships/notesSlide" Target="/ppt/notesSlides/notesSlide11.xml" Id="R675a2a49097a44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cad79ac665429c" /><Relationship Type="http://schemas.openxmlformats.org/officeDocument/2006/relationships/notesSlide" Target="/ppt/notesSlides/notesSlide12.xml" Id="R39c07430209a46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c30ba420584c98" /><Relationship Type="http://schemas.openxmlformats.org/officeDocument/2006/relationships/image" Target="/ppt/media/image5.png" Id="Rad620d038662460f" /><Relationship Type="http://schemas.openxmlformats.org/officeDocument/2006/relationships/notesSlide" Target="/ppt/notesSlides/notesSlide13.xml" Id="R4b9cd02564b540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ed176bc11a49ab" /><Relationship Type="http://schemas.openxmlformats.org/officeDocument/2006/relationships/image" Target="/ppt/media/image6.png" Id="Rb534e27d599c4b87" /><Relationship Type="http://schemas.openxmlformats.org/officeDocument/2006/relationships/notesSlide" Target="/ppt/notesSlides/notesSlide14.xml" Id="Reb2649f86b8448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c68ffe69644bbf" /><Relationship Type="http://schemas.openxmlformats.org/officeDocument/2006/relationships/notesSlide" Target="/ppt/notesSlides/notesSlide15.xml" Id="R19f70a227f6046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5B7243-CD22-49FA-98F0-69741992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DA6D9-C71E-4D0C-ADEE-A67DA002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E6DF1-FD1D-42AD-9737-8B7B6850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Disaster Tweets | model calibration and uncertainty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8B67F-6D02-465F-94D9-68F7A0F8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FE4B9-EB45-4F23-80BD-9A97432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7DB30-2857-4800-8683-395D5D3C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PO CO TEN PROJEKT?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8EEC9-BF44-487E-A2DE-A12AB6D6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Chcemy wiedzieć nie tylko co model przewiduje, ale kiedy nie powinien odpowiadać.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49407-8F09-45B3-A60A-DF33D895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Klasyfikujemy tweety katastroficzne i sprawdzamy, czy confidence modelu można traktować jak wiarygodne prawdopodobieństwo.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9F35D-896E-4934-83E8-AA16E582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019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98A15-53D5-4A78-B2BB-0730DCD0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Główne pytanie: kiedy model ma powiedzieć „katastrofa”, a kiedy uczciwie zwrócić „nie wiem”?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F14D7-F55B-4895-8EE6-290F0E6C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047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61C2C-A1AA-4843-8C35-6559913A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AC2D2-F82C-4CF2-BA30-6CA32DEB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1781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rPr>
              <a:t>7 613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2255D-77AE-44EF-B557-15E3000C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781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tweetów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C0AEE-9D3E-4B0E-913E-2AC17F1B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90975"/>
            <a:ext cx="1781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dataset Kaggle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E8882-61C1-4596-A1FF-680ECE2C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86125"/>
            <a:ext cx="2047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322F8-238A-4C9D-850D-C1E6D581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861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32435-253C-4413-BB0E-A9B402AE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419475"/>
            <a:ext cx="1781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8A7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8A7A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DB886-F029-429A-B388-4B563A9C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71900"/>
            <a:ext cx="1781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rodzin modeli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FB77B-6348-4AF4-A6C9-9D6519D3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990975"/>
            <a:ext cx="1781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TF-IDF, MLP, Transformer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BE30E-D93C-4C34-A37C-FD0A2106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86125"/>
            <a:ext cx="2047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94939-BEEA-46AD-A874-C322CE85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861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7ABB95-6CD7-4621-B0F2-EA270D1A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19475"/>
            <a:ext cx="1781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FA36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5FA36F"/>
                </a:solidFill>
                <a:latin typeface="Aptos Display"/>
                <a:ea typeface="Aptos Display"/>
                <a:cs typeface="Aptos Display"/>
              </a:rPr>
              <a:t>0.015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5805BF-2ECA-4853-9897-CA351E6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71900"/>
            <a:ext cx="1781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najniższe ECE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FA4F4-1DB8-4DF9-BE21-CB0DCB38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90975"/>
            <a:ext cx="1781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Naive Bayes + isotonic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D8ED4-86DD-4A96-8111-3770908C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86125"/>
            <a:ext cx="2047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A0E127-A143-4E8C-B77D-6C70CA40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861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7815B8-7C0C-4DBB-8889-6E1487AA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419475"/>
            <a:ext cx="1781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rPr>
              <a:t>0.832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C228F4-0C5B-4915-A803-44413BDE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771900"/>
            <a:ext cx="1781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5AC13-DD9A-4ADE-B5C9-4A88AE0C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90975"/>
            <a:ext cx="1781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DistilBERT 5 epok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382673-0A8D-435C-82E9-8E16728E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F87791-E290-4C54-8C78-CFDBF7A7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0839D4-E6FE-466F-9A88-4E3A7D6D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054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1. Dane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462310-305E-4D21-B942-2794FC0F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00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tweet + etykieta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C3C85C-6373-499D-A91C-019C1DED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959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340374-1D02-4221-9913-BA022884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435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953C22-0BDC-46BD-BD80-C09012B5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435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D82E23-149C-407B-9F83-FD08674A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43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A3C995-C208-404E-87EA-FFA0B31A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054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2.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5CE5CF-A775-4B2F-A57E-B9B8FB65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00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klasa + score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D5E6D0-D70B-4FA4-9CC0-92FA85BA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959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AA44FF-7F58-4FC4-AD0F-E8F48AD4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435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B681CD-6C6F-4512-BCD3-75A9845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A135F8-FD4B-4CE2-8875-CC9DD802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E6C704-6E17-4CEA-8639-925B65C8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3054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3. Kalibracja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9E1642-3E07-43EE-8131-DB2E84AD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007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czy score jest wiarygodny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95FF58-2B69-4FDB-AC27-A7B25B72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959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009C24-5E3B-4F30-8831-FFB270BC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435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A127C0-D4DF-458B-8468-856C2276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435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1A9F80-D648-49EC-AA71-3E6B8CAE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43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4B3F18-3FA3-4C27-83D2-60F26520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0542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4. Decyzja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0D2832-DCA8-4D5B-A1A6-1095364E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007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odpowiedz albo „nie wiem”</a:t>
            </a:r>
          </a:p>
        </p:txBody>
      </p:sp>
    </p:spTree>
    <p:extLst>
      <p:ext uri="{BB962C8B-B14F-4D97-AF65-F5344CB8AC3E}">
        <p14:creationId xmlns:p14="http://schemas.microsoft.com/office/powerpoint/2010/main" val="3692483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1C9D8-F1EB-41A0-9E74-5750BEDA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CE348-9A8B-491F-9C26-EBEDE5D1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79777-1660-43CB-95A4-8F1A9B2A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Motywacja: confidence vs rzeczywista poprawność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914F4-AED3-4EE0-AEC6-08AEAC6F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EF1FE-EA25-4152-BB02-90454840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303F4-7A7B-4B69-865A-9A927B8D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PROBLEM NIE KOŃCZY SIĘ NA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6493C-0675-4A69-ABD5-76756433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Model może często trafiać, ale nadal być zbyt pewny wtedy, gdy się myli.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A4140-350D-41C9-BF1F-035185A4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Dlatego oprócz klasy 0/1 mierzymy kalibrację prawdopodobieństw.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7d54d886c486a"/>
          <a:stretch xmlns:a="http://schemas.openxmlformats.org/drawingml/2006/main"/>
        </p:blipFill>
        <p:spPr>
          <a:xfrm xmlns:a="http://schemas.openxmlformats.org/drawingml/2006/main">
            <a:off x="666750" y="2000250"/>
            <a:ext cx="533400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51A32-049C-48A7-8C78-BB2EE02C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3810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42001-351B-4E13-9E7F-92395F59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ADF9B-9B70-4259-8865-D2F556DE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38375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5AF98-AF3B-4FF4-9619-4C605450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Ile predykcji 0/1 jest poprawnych. To mówi o klasyfikacji, ale nie mówi czy confidence jest wiarygodne.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0F7BD-CF60-43AC-A40F-78C58945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3810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68BF7-B48B-463F-8A9A-1D6342E0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57E9F-63C2-43FC-A752-C1F071DD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19475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3CAFD-8DBD-4207-883F-F9FE92D6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9570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Najwyższe prawdopodobieństwo klasy. Przykład: model mówi 0.90, więc brzmi bardzo pewnie.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527DE-9932-4A52-B509-CF6B584B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3810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63A36-89D1-4FC0-96E4-FB3876A5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94CBAB-0F5F-485B-BFF4-9AA0472A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00575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Kalibracja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6F559-7C34-463C-99EB-48816A90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Jeżeli model mówi 0.90, to w podobnych przypadkach powinien trafiać mniej więcej w 90% przypadków.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5987E-32F4-46ED-86E9-586097FD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Ta różnica jest kluczowa, bo mechanizm „nie wiem” opiera się właśnie na confidence.</a:t>
            </a:r>
          </a:p>
        </p:txBody>
      </p:sp>
    </p:spTree>
    <p:extLst>
      <p:ext uri="{BB962C8B-B14F-4D97-AF65-F5344CB8AC3E}">
        <p14:creationId xmlns:p14="http://schemas.microsoft.com/office/powerpoint/2010/main" val="6644687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428562-15F0-4AD0-9E83-3C0DAA14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21B76-2624-4BFE-BBB0-55399FB7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178DD-74AA-4F45-93AA-F8946F33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Dataset: nlp-getting-started/train.csv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B62AB-2C61-4059-A5FD-3A7C4583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471BA-C2F8-48CE-A90C-AAA41490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0FA1A-1C91-4FBE-AF17-F94505ED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DATASET TO KRÓTKIE TWEETY Z ETYKIETĄ: KATASTROFA ALBO NIE.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FDCC1-3F60-47F8-89F1-C583A0AB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To trudny przypadek NLP, bo te same słowa mogą oznaczać prawdziwe zdarzenie, metaforę albo tytuł/link.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94552-2D5C-41D3-AAC2-72E9DD6A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Używamy kolumny text oraz keyword, a etykieta target mówi czy tweet dotyczy katastrofy.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60A07-0D1C-4658-8D34-58FA0756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10F52-F883-4B30-88B0-DD32EDE0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518F1-3543-45D7-899E-D79DA787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rPr>
              <a:t>7 613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48FC2-3158-43B0-B29B-C3258CFE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wierszy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16DD6-CC7D-47EC-A56F-E38C5618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po poprawnym parsowaniu 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B1521-CE12-4993-B31E-1E1762A5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15E2C-B9F6-4918-BF9E-ADAD18DD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A0F19-1286-4B90-9210-54984FAE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336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8A7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8A7A"/>
                </a:solidFill>
                <a:latin typeface="Aptos Display"/>
                <a:ea typeface="Aptos Display"/>
                <a:cs typeface="Aptos Display"/>
              </a:rPr>
              <a:t>4 342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029B7-84E9-42A1-80CA-87B4F34B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8602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not disaster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345AB-8C96-40DC-80DF-96724141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0510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klasa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4CEF5-9BAB-44B3-A59C-6EF6C5CF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6E797-A1C2-4725-A230-2EC795F6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002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43198-04DB-4FB8-A83C-ADDB2E1A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336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8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84A3A"/>
                </a:solidFill>
                <a:latin typeface="Aptos Display"/>
                <a:ea typeface="Aptos Display"/>
                <a:cs typeface="Aptos Display"/>
              </a:rPr>
              <a:t>3 271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EF23F-8E96-4B95-B696-5766DE73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8602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disaster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124E6-D229-41CF-8172-1339D72F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klasa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F5CC0-9D6F-429D-B09A-5FAB5869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FA8156-28B3-40C4-9E2B-73698F7B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B57A54-8E81-403B-B03E-B3D098AD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rPr>
              <a:t>43.0%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24B042-FD2A-400B-B096-619E1CEE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8602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udział katastrof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046DBB-6925-4646-864A-CE5465AD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3271 / 7613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F8FF0-E0E6-4224-A79A-BB14CFB8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Balans klas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E1869E-87E8-40AA-93BE-70481F21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not disaster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AD8873-350E-4F13-A29F-94AE413E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62425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CE236-7E20-44E8-BF4D-9D0F7114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62425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966288-DAD6-493A-A382-E0B785AF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052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4 342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014FD2-BB45-4388-9FD8-A652D20C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disaster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6C6DDF-2E53-44ED-A806-3C71457C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76775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6E92A8-6906-4D33-899B-19B9599D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76775"/>
            <a:ext cx="236793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026A9A-0C83-4419-A800-7E0E2084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196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3 271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FD2856-CAAD-4BFB-B346-B0381932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342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255F3D-45B6-4733-A7E3-51F56FA9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AFDBC8-59F8-4E1A-BCBF-31BB2544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6237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Dlaczego to nie jest trywialne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33CBD0-4D72-4C12-BBF3-23B3A5D0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386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Tweet może zawierać słowo disaster, fire, flood albo death, ale nadal nie opisywać realnej katastrofy. Model musi rozumieć kontekst.</a:t>
            </a:r>
          </a:p>
        </p:txBody>
      </p:sp>
    </p:spTree>
    <p:extLst>
      <p:ext uri="{BB962C8B-B14F-4D97-AF65-F5344CB8AC3E}">
        <p14:creationId xmlns:p14="http://schemas.microsoft.com/office/powerpoint/2010/main" val="17416564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C16B08-5A21-4AED-BB37-E77F8F34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6A8F8-7FF4-4760-B2A0-B886C15F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6C7D1-5D8C-483D-8643-AC014BAC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Split stratified 60/20/20: train/calibration/test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60C41-6796-4FD3-BBF2-13ECE984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5F80E-618C-408C-9E55-8E28ED28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ACAE8-DEEE-45D7-BEBF-0B207E00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DANE DZIELIMY NA TRAIN, CALIBRATION I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EC2D2-3486-4150-84FB-461C84E6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To ważne: kalibratora nie uczymy na tych samych przykładach, na których finalnie oceniamy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898AB-11CD-45F7-BA64-B5FD87B7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Dzięki temu ECE i rejection curves są uczciwie mierzone.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44ECB-0F15-426E-B3E6-A2D13191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961BC-305F-4D9F-BC91-A7C4E578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062D5-8DD3-41AC-B893-1472DEB3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rPr>
              <a:t>4 568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4EFFF-7AD4-4688-B0FE-8F1F5F32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1DD99-1A71-4ED9-9DEF-99350A2A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uczenie modeli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478D4-A479-487E-95CE-1B323931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8296A1-AD6F-45A4-AA2B-940138CA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C4498-0DDD-409A-BE9A-32C212BF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rPr>
              <a:t>1 522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B7C39-CFA1-4882-A8EC-F10CBF76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669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calibration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E2A2A-635E-4807-9C73-2A770CE9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temperature/isotonic/conformal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75E3A-19A5-47E5-8A86-15F41796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8120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0F37F-E2C4-43B6-BAC5-A2815DD5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812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23FCC-58F4-4017-8920-1E59853A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14550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FA36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5FA36F"/>
                </a:solidFill>
                <a:latin typeface="Aptos Display"/>
                <a:ea typeface="Aptos Display"/>
                <a:cs typeface="Aptos Display"/>
              </a:rPr>
              <a:t>1 523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DD8D0-4793-446D-822B-48216539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669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4561A-9D06-4E57-8F2F-784AB9AF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86050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finalna ocena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186562-A5CD-4604-B047-D28AD75C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04DA96-70DC-47CA-8B1E-C1864CBB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7FFC92-CDAC-48F7-8134-252762F5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766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Tekst wejściowy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C179F9-3675-4F65-987F-2059184D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text + keyword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031E30-B5C7-41F3-BD1D-8C910C5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243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7C31AE-B430-4032-A7E8-132B0EB9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719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9C4E47-67B8-43DC-8011-82D2773B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C4E3D5-BCCC-4AD5-8312-9EC9FCD7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8E70C9-D55F-429C-90E3-17197ED5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766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83366C-142A-4A72-A56A-AE28E2F5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71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score dla klasy disaster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C085AC-C53D-4F82-BCD0-92FD94CF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243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E3D65F-35A3-4947-8B64-4BA94A92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719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AB5738-9AE9-4CE1-AAC3-78ABD81C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147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F21A7E-3B39-497C-BCB9-968AC248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14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145EC2-5353-4CAF-B3EF-4DBD95F0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766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Kalibrator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3E5283-E79D-4876-A47F-737C6364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71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score -&gt; probability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190413-BD6F-4089-8848-1AD73022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243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B08B3C-D6E9-4D5C-824D-5E38D50D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D0C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D0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3F9241-E75E-4C0A-B93C-719C84A4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4F85EE-F978-4F6E-9C28-1D30B1F9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EE9B7A-0458-4EB7-AE47-7F0EA227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7667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093355-691A-4492-A02B-E15581C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metryki + wykresy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1FC0F4-3A61-4660-A947-2CB1C5B3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7953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294517-DA24-4B08-BC19-187CC3AE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2C8C4B-EFD3-44C1-8C09-31750B40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67325"/>
            <a:ext cx="766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Dlaczego osobny calibration set?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5BA774-143B-4D39-8EF2-5D77F4EF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43550"/>
            <a:ext cx="766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Bo jeśli dopasujemy kalibrację do testu, dostaniemy zbyt optymistyczne ECE. Projekt ma pokazać realną jakość confidence.</a:t>
            </a:r>
          </a:p>
        </p:txBody>
      </p:sp>
    </p:spTree>
    <p:extLst>
      <p:ext uri="{BB962C8B-B14F-4D97-AF65-F5344CB8AC3E}">
        <p14:creationId xmlns:p14="http://schemas.microsoft.com/office/powerpoint/2010/main" val="5666180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1392F7-B450-4DE3-A8BD-AC21020F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BE5C1-A5C5-4343-BCF5-F7F11118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30998-52F3-4A41-89EC-A9B1D617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Modele: src/disaster_uncertainty/modeling.py oraz transformer_cli.py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3768A-8A62-4854-A65E-11B83A68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BA35D-F9FB-4E64-9FF8-A64C5BC4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44A08-6B1C-4F2E-9E55-F6715E59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TESTUJEMY KILKA RODZIN MODELI, ŻEBY NIE OPIERAĆ PROJEKTU NA JEDNYM WYNIKU.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EA921-7266-45BD-8DC7-0A3EE393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Modele klasyczne są szybkie i dobre jako baseline; MLP i Transformer sprawdzają, czy semantyka tekstu poprawia wynik.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007C3-5750-44DA-9B49-A94A0F2D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To też pozwala zobaczyć, że różne modele mają różne problemy z confidence.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F0CCF-FA03-470C-BA05-5B9727A0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3D2FD-F0DC-40A0-9487-A2DA7506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B03A3-A825-4F7E-9B48-3C3C6B71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74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TF-IDF + Logistic Regression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4FFC6-38EE-4CB1-A1DF-D5190761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Prosty, mocny baseline. Dobre F1 i całkiem dobra kalibracja już bez dużych modeli.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0A711-A5D1-4424-8006-2E9D1C97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D48AB-99C1-4540-B08C-9B61E494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BEB9A-D3E8-448D-90B8-6F95AA1B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574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Naive Bayes / SVM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B1147-C4E3-48BA-919C-CB450352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336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Dodatkowe klasyczne punkty odniesienia. Naive Bayes osiąga najniższe ECE po isotonic.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CA2B4-35BE-4EE3-A568-E9BE9EE8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33600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6B54E-3BF3-4350-997C-59F43459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336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15200-4D79-4320-B285-EE24E58F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574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MLP na embeddingach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14AB7-96EE-4690-B3D4-450843FE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336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Model pośredni: bardziej semantyczny niż TF-IDF, ale znacznie lżejszy niż transformer.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263C8C-C5AB-44BE-9C36-5F4D0B08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576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4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4457B-6B30-4EE9-AAC2-7A396606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576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0F468-D259-4B76-92F6-ADBB23FC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81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DistilBERT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C8963A-FEC0-4F9F-9EF5-41CC640C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57675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Mały transformer fine-tunowany na tasku. Najlepsza klasyfikacja, ale raw confidence wymaga kalibracji.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C296C-DAE3-4498-B797-1B632513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576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FA3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88BAFE-96AA-4729-92E2-EE8C48A7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57625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891F2-0C7C-4C03-8787-081D2726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81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A36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A36F"/>
                </a:solidFill>
                <a:latin typeface="Aptos"/>
                <a:ea typeface="Aptos"/>
                <a:cs typeface="Aptos"/>
              </a:rPr>
              <a:t>Po co kilka modeli?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00C894-75BE-4AB1-8106-01DFD5F4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57675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Bo projekt bada nie tylko accuracy, ale też to, czy model wie, kiedy nie wie.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7712F2-75F2-4298-A717-50A34D13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6F55BA-BC09-4381-941D-08C16A6F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Najważniejsze: model z najlepszym F1 nie musi mieć najlepszego ECE.</a:t>
            </a:r>
          </a:p>
        </p:txBody>
      </p:sp>
    </p:spTree>
    <p:extLst>
      <p:ext uri="{BB962C8B-B14F-4D97-AF65-F5344CB8AC3E}">
        <p14:creationId xmlns:p14="http://schemas.microsoft.com/office/powerpoint/2010/main" val="2020901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DE0474-320D-4BA5-BA7D-C426B43F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0CB64-4DC2-4EAF-A4ED-E2C2ED60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92B42-DB43-4418-88A9-1BF27E6A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Metryki: accuracy, precision, recall, F1, ECE, log-loss, confusion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D16E7-43A5-407A-9ED4-E3186584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E3E7B-E1C2-48D3-AB1C-5F69477C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8EF2E-7B78-4918-B9DC-293292ED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OCENIAMY DWIE RZECZY: KLASYFIKACJĘ I ZAUFANIE DO PRAWDOPODOBIEŃSTW.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883FE-7226-46DA-BE4A-C6AC6B72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F1 mówi, czy model dobrze rozpoznaje klasy. ECE mówi, czy jego confidence jest wiarygodne.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3C7F6-6E95-473A-A2D2-3608ED10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Dopiero oba typy metryk razem odpowiadają na pytanie projektu.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9F3DD-BCCA-4906-AA6B-3F83A93C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952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9A837-3CB4-49A2-BF4A-2DABA392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849D6-601A-48C8-8430-1D527AEF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193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Accuracy /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7D012-A078-44F6-AC10-BB1CC065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Podstawowe metryki klasyfikacji. F1 jest ważniejsze przy nierównych kosztach precision i recall.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74952-191C-41B3-AC9B-279BAC58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952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A40C1-073A-4361-8883-40D35695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F0AE4-4348-49F8-A676-90BCF65C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193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Precision / 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0030D-816C-4D76-B9B9-2ED79E8F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955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Precision: ile alarmów było trafnych. Recall: ile prawdziwych katastrof wykryliśmy.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74901-7106-49A8-9507-902539CD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2952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A1F3D-912B-471A-9872-5CA4A1F4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08F91-ED1A-4FF4-A416-1AC2E6F3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193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Confusion matrix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C9BEAF-5FD7-42A6-B753-749F82B0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955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Pokazuje TP, TN, FP, FN. To pomaga rozmawiać o koszcie pomyłek.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1DAF8-3642-47D0-8BF2-611F9DEC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4A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D32F2-D39E-432B-8556-8299B809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42444-199E-4DC8-9ED6-44A1DE23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290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ECE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F251A9-249C-4B79-B668-8092EF80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053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Expected Calibration Error: ważona różnica między confidence i realną poprawnością w koszykach.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1502DF-CC24-45C4-A2AA-5C17EA5E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05250"/>
            <a:ext cx="2952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FA36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D7573-63FF-4A00-B8D9-FBC122C4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052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B557A-03E9-482C-92D9-272CC462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290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A36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A36F"/>
                </a:solidFill>
                <a:latin typeface="Aptos"/>
                <a:ea typeface="Aptos"/>
                <a:cs typeface="Aptos"/>
              </a:rPr>
              <a:t>Reliability diagram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2BA368-27C0-43A5-A37F-D44BCCB1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053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Wykres pokazujący, czy punkty confidence leżą blisko przekątnej idealnej kalibracji.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4DCB7A-442C-4324-9D14-8F70A4A7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67375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Na prezentacji: „Nie wybieramy modelu tylko po accuracy, bo mechanizm nie wiem używa confidence”.</a:t>
            </a:r>
          </a:p>
        </p:txBody>
      </p:sp>
    </p:spTree>
    <p:extLst>
      <p:ext uri="{BB962C8B-B14F-4D97-AF65-F5344CB8AC3E}">
        <p14:creationId xmlns:p14="http://schemas.microsoft.com/office/powerpoint/2010/main" val="6773696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0DDAEF-8F1F-4BD0-B7D3-4F49A39F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0DDF7-119F-4343-A8F8-4FC4EC6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5DD8D-91C0-4E35-B3FF-02A91B21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reports/model_comparison.md oraz reports_transformers/distilbert_5epochs/model_comparison.md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4CEF8-B2BC-4AEB-9C2B-78CECE96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9A0F5-5775-4A6E-AE0F-CA69AECC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CF48A-7081-4187-A043-CBD766CD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BASELINE POKAZUJE, ŻE PROSTE MODELE SĄ MOCNE, ALE RÓŻNIĄ SIĘ KALIBRACJĄ.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55B5E-4265-403A-982A-92A5B5BF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Najlepsza klasyfikacja przychodzi z DistilBERT, natomiast najniższe ECE globalnie ma Naive Bayes + isotonic.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72DA4-6C2F-487D-9422-98D83739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To już pokazuje, że „najlepszy model” zależy od pytania.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9B9AB-575C-49C6-B39B-A8353A5F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7239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5A37D-A143-4C81-A18E-3C41D776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D944C-AC7F-42C9-9D09-E941DE1E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78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model / metoda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05B26-5785-48AD-BEA9-8501CCEA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ECB87-2623-4B23-9B3A-81534F2E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4142C-756E-45BF-A65B-5963D943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145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ECE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E2D89-05CB-4569-ABF7-F9C952A5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1455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873"/>
                </a:solidFill>
                <a:latin typeface="Aptos"/>
                <a:ea typeface="Aptos"/>
                <a:cs typeface="Aptos"/>
              </a:rPr>
              <a:t>wniosek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430EE-AEB5-4066-9845-C1ABAC41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7D3F4-08B9-47A0-81A7-F0563B04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Naive Bayes / isotonic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804AE-31B0-4234-8199-3E433998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.802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31652-BB79-4A39-BCC8-6AFC778C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.752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0F61F-7F43-46EA-A3EE-D7686688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.0152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49EB6-F405-4CF1-B7E0-60873DFD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669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najniższe ECE w całym projekcie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00254-A020-4E48-8BF2-91F46CF8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AD9EB8-D5B7-4508-B45C-59F8B4B5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LogReg TF-IDF / raw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FE75C-6B0C-40E8-98F6-C4A5F36F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860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.803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1C6132-0682-41FE-9069-95EF338E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860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.759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368D67-A7B4-43C0-AE7C-E3EC26E7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860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.0246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BD2EB3-17BE-4B91-A412-4DDE02E7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6702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mocny 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EAF415-B7A6-4747-9B5C-039BCC1D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20DAB-7B3C-4D63-8BD0-6E41EAAF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SVM TF-IDF / raw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6FB250-05EB-4A82-B768-F789FD20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861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.808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4FD6F7-D388-4AAA-988F-211799CB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861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.765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8011DF-049C-41A8-9CA1-FA2C1F13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861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.0820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554975-90FD-4E43-947E-79F508C2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670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F1 dobre, ECE słabe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A4C63-FA89-4355-839F-83ECDC91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4DF2F5-B96C-4C6B-9F75-C3099555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MLP embeddings / raw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21C49B-366D-4AE6-A894-7B596A29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861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.734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D3E399-817E-4DF7-A370-67463C2C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861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.729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BFD312-BF99-400A-AC59-17ADAA5D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861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.1654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66E3BB-5A44-4BEB-BD0C-88711053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6712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największa nadpewność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A0BE89-FEB1-4822-B67D-08CE42A2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0DEC50-7BC7-4D81-ABC9-39F97FB7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DistilBERT 5ep / raw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77C3C9-ED9A-473C-AB2B-CE6A34F4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862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.832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5168F8-ECA0-400C-98B0-7578AB71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862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.782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0D5D4D-9654-4FC2-AA1E-1243801E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862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923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.1127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C4D943-5235-4273-BC81-3FAD1A77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67175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najlepsza klasyfikacja, raw ECE wysokie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416451-9D76-413F-B964-4FB7EFF6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ECE przed/po kalibracji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8328EB-893E-425B-98DB-49A91BF1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NB + isotonic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8A6BEE-C8C9-428B-AEA1-F4512268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47975"/>
            <a:ext cx="1381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E86CF7-4A83-4EF8-A3AC-E17F3FE2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47975"/>
            <a:ext cx="12348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756398-1583-47B2-97A5-9CCED8F2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7908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A3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A36F"/>
                </a:solidFill>
                <a:latin typeface="Aptos"/>
                <a:ea typeface="Aptos"/>
                <a:cs typeface="Aptos"/>
              </a:rPr>
              <a:t>.015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915C36-6452-4DD6-9155-5FC0AED0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MLP raw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5C5ADF-CE92-4A0F-B759-4BAAA15E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90875"/>
            <a:ext cx="1381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F236A7-0365-4B07-A400-BF87A9B3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90875"/>
            <a:ext cx="134375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07A656-556D-4B57-A64B-27469793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1337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.165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185958-03D7-43B2-A57D-37CF5733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MLP + temp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D07673-2519-412A-A5F7-E04AF7E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33775"/>
            <a:ext cx="1381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FFC3C2A-451D-40EE-8496-DF78F0FD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33775"/>
            <a:ext cx="1373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905F53-DB84-41A8-B45C-F939D6C5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4766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.017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694931-1C6D-4CDB-8629-2229E50D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D-BERT raw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2F5405-D88B-4B38-8FB3-5E379553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76675"/>
            <a:ext cx="1381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76AF99-B103-4274-998C-D8D30815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76675"/>
            <a:ext cx="91560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318600-041F-4A0A-9EAF-4B642CE6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8195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.113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611A07-CC79-4CFB-8386-70D201BC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D-BERT + iso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E56089-A949-4285-9763-C7CD4DE2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19575"/>
            <a:ext cx="1381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4B22D5-0860-49A7-A18E-D4BAA6F9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19575"/>
            <a:ext cx="204731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DD9E3B-C68A-407E-AC80-884D67C7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1624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.025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D736C35-92B2-4182-B2E6-F690E5F7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05375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DA7273-CEB0-4AE0-9A04-A2BE84B8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05375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037D00B-C0F5-4A7F-8E78-BA39E37E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292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Wniosek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6F49DDB-EAE3-41CB-8D81-12EFE730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0542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Accuracy i ECE nie zawsze wybierają ten sam model. To jest sedno projektu.</a:t>
            </a:r>
          </a:p>
        </p:txBody>
      </p:sp>
    </p:spTree>
    <p:extLst>
      <p:ext uri="{BB962C8B-B14F-4D97-AF65-F5344CB8AC3E}">
        <p14:creationId xmlns:p14="http://schemas.microsoft.com/office/powerpoint/2010/main" val="12878740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824476-6D14-4348-AC89-9985C583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F162E-7A85-4028-BE88-033842E4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5C185-51F8-40EF-8A1E-7BE91376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Metody kalibracji i uncertainty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CB27E-21C2-4F4E-A0E7-61588DCA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C2478-1BD6-44D2-AFB1-5D9C9883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D8875-A303-4BBC-8CE2-79D048B8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KALIBRACJA POPRAWIA PRAWDOPODOBIEŃSTWA, NIEKONIECZNIE SAME KLASY.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6CE40-FB18-47E0-BCB3-33D3F868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Dlatego model może mieć tę samą accuracy, ale dużo lepsze ECE i log-loss.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135AE-B220-4D0A-BEBD-633D4BA8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Testujemy kilka metod, bo różne modele są źle skalibrowane w różny sposób.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D2837-72E4-44BB-86BB-36710999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304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44F53-E510-4ED2-9EBE-DC9BEEE0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90FC9-0E97-4B29-B27C-6E2C377C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Temperature Scaling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182BC-48F0-4BEB-807D-56F077C8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Uczy jeden parametr T na logits. Gdy T &gt; 1, prawdopodobieństwa stają się mniej ostre. Często nie zmienia klas przy progu 0.5.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8BFD0-A88F-4608-9775-3C7C7501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304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B3B81-5798-4919-9190-0471090D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110E2-0B4F-4BDB-8252-5A6059CA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Isotonic Regression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0F599-2675-4CC2-AE9A-27A01FA0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43175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Uczy monotoniczną mapę score -&gt; probability. Jest elastyczna i często dobrze zbija ECE, ale potrzebuje calibration set.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DA1C3-B384-499E-8F73-B19DB849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43125"/>
            <a:ext cx="3048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9D52E-FF28-44C9-9680-2435A64D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43125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668C99-FFED-4428-9D7B-76C69DE5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Label Smoothing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DDA78-F392-4971-8220-021C92A6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276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Podczas treningu nie pozwala modelowi być zbyt pewnym etykiet. To regularizuje confidence.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53A2B-E647-4A55-B336-6D4F525B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9575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FA3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28772-B103-4F40-AFE2-65B88A7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95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C401D-FDA9-4524-9306-0C6C947A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95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A36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A36F"/>
                </a:solidFill>
                <a:latin typeface="Aptos"/>
                <a:ea typeface="Aptos"/>
                <a:cs typeface="Aptos"/>
              </a:rPr>
              <a:t>Bootstrap Ensemble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957DE-C5F9-459B-838D-6F2C1ECF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958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Uśrednia kilka modeli trenowanych na próbkach bootstrap. Pomaga zmniejszyć wariancję predykcji.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DB172-5F09-42E3-85BF-8777219E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9575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4A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2877FA-E8BE-453C-8A8E-82A74794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957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9F1103-C24E-4AE9-8AAE-BADDCE0F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1957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Reject option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6E39AA-974D-4033-81A7-21C9A20D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958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To już nie kalibrator, tylko decyzja: odpowiadamy tylko, gdy confidence przekracza próg tau.</a:t>
            </a:r>
          </a:p>
        </p:txBody>
      </p:sp>
    </p:spTree>
    <p:extLst>
      <p:ext uri="{BB962C8B-B14F-4D97-AF65-F5344CB8AC3E}">
        <p14:creationId xmlns:p14="http://schemas.microsoft.com/office/powerpoint/2010/main" val="21224763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2E4C2B-97C9-434F-BE7D-0CE8725C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55FC4-683A-40FD-BFEB-F9BD0B34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1C1C1-9D83-4B1D-A544-7B08E516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reports/metrics_summary.csv i reports_transformers/distilbert_5epochs/metrics_summary.csv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FEC03-DF9B-4849-84B8-90D154DF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922D7-E2E0-4B31-B1A0-F776BE26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B8B70-C015-4BF9-9B8B-C61376FA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NAJWIĘKSZE ZYSKI KALIBRACJI WIDAĆ TAM, GDZIE MODEL BYŁ NADPEWNY.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D1941-1DE2-4463-8A82-07DDA163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Nie trzeba oczekiwać, że każda kalibracja poprawi każdy baseline; jeśli model już ma dobre ECE, zysk będzie mały.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199E2-4D77-410B-9BE0-4FF13CA9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Najlepszy przykład to MLP: accuracy się nie zmienia, a ECE spada prawie dziesięciokrotnie.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71C2B-A4E2-4E4E-BDAB-CDB1C5F7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ECE: przed i 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A49F6-603A-4C09-B660-9C64A437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MLP raw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2ED4A-1568-411B-AD18-6A39FA7C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032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AFE39-CCB5-426A-AB6D-956D96B4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0325"/>
            <a:ext cx="278017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AD1D1-947C-4EE7-9DEC-A30AE06A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431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.165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FFAE8-89FE-4B68-A8ED-2B6B92C9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MLP + temperature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65190-1AD9-4354-9926-E4B2ACFF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5BA89-A760-4936-8C86-98A81424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28406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EAA26-A809-4E90-882A-06F1EFB4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860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.017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45696-9E45-4034-A383-443683DD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SVM raw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D8EA3-48B3-4FA8-A25C-B60071DC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8612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F3B48-628A-483B-893F-8C87B693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86125"/>
            <a:ext cx="137832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CB373-AFC8-4903-8CB8-70822733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289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.082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A7CCA6-76C8-4B19-BA27-B8B143EE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SVM + isotonic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FF102-CEA4-45D5-BA8B-E2B22A48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2902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F7935B-23E3-4364-A1D9-5B2152D1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29025"/>
            <a:ext cx="437029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175486-4887-4FEC-B69C-87CFF055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718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.026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BB500-4FF4-40F0-BB75-A039DE40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DistilBERT raw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38B138-E49C-4514-9E50-9F963AC7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7192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502B6B-3BC5-4234-8813-84A91263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71925"/>
            <a:ext cx="189435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DC0C71-CAA4-4470-9063-245017D2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147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.113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60E6BA-8273-45A8-8C2B-8A26F6FC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DistilBERT + isotonic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D47C6F-D828-4B57-BF81-D97E9831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1482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727867-BAB2-458A-9F35-FF70A8C3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14825"/>
            <a:ext cx="423582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7A80B9-27DF-4F97-B726-F2B00A5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576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.025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2E1BB4-9ACA-4C96-9DBE-FBA0EDAC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Naive Bayes + isotonic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DC73BB-4F81-4D55-B95F-FFAD86EA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57725"/>
            <a:ext cx="28575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55622F-7D91-4185-B50B-E3FC9D8E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57725"/>
            <a:ext cx="2554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EF7D7D-F040-4C03-ABC8-D1FF7FE8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005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A3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A36F"/>
                </a:solidFill>
                <a:latin typeface="Aptos"/>
                <a:ea typeface="Aptos"/>
                <a:cs typeface="Aptos"/>
              </a:rPr>
              <a:t>.015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A36B18-31DF-4FAF-9D29-BF099104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3238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FA36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6C5A0B-3434-439D-A836-EF15E3F5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9F0DBA-96E1-4D00-915C-8D5CE690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003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A36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A36F"/>
                </a:solidFill>
                <a:latin typeface="Aptos"/>
                <a:ea typeface="Aptos"/>
                <a:cs typeface="Aptos"/>
              </a:rPr>
              <a:t>Najniższe ECE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771EE6-1F7C-474D-BB42-98B218B3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765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Globalnie najniższe ECE to 0.0152 dla Naive Bayes + isotonic regression.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50BBEC-4126-437C-AA19-F560C4C3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62375"/>
            <a:ext cx="3238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538EB5-3054-4841-BB52-57D7A6B4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6237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D9BFD9-A0E5-4C25-98C7-B41CE7D5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862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Transformer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AE44AB-A71F-4830-BC33-C330F50A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62425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DistilBERT 5ep + isotonic ma ECE 0.0252. To nie jest globalne minimum, ale bardzo poprawia raw confidence.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9F2A68-79F5-453D-B74F-150DC655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729350-B22F-4FE9-A8F3-DC1C1FC0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4825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121A1C-6BE4-48AE-8B77-D23736B1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720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Do powiedzenia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167C48-627F-49B5-B7E5-7B829A60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44830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Kalibracja jest najbardziej wartościowa, gdy model ma wysokie raw ECE.</a:t>
            </a:r>
          </a:p>
        </p:txBody>
      </p:sp>
    </p:spTree>
    <p:extLst>
      <p:ext uri="{BB962C8B-B14F-4D97-AF65-F5344CB8AC3E}">
        <p14:creationId xmlns:p14="http://schemas.microsoft.com/office/powerpoint/2010/main" val="11701621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CE6655-1443-45C9-817A-695E64DE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8A0DA-859B-4D68-8626-4FD80D7F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837F8-CC11-4FB7-A184-188633BA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reports_transformers/distilbert oraz reports_transformers/distilbert_5epochs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2F293-40B5-49F6-8495-35811368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5EBC9-4190-450D-BE4B-939970C6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72828-2EEA-4647-9D95-9A99DB27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DISTILBERT POPRAWIA KLASYFIKACJĘ, ALE NADAL WYMAGA KALIBRACJI.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0AA12-BDD3-45F0-9B69-323064E3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Loss spadał przez pierwsze epoki, a wariant 5 epok osiągnął accuracy 0.832.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E0E21-286F-4E1E-9E96-639CC4E8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Jednak raw ECE po 5 epokach było 0.113, więc sam dłuższy trening nie rozwiązuje confidence.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990769e634c98"/>
          <a:stretch xmlns:a="http://schemas.openxmlformats.org/drawingml/2006/main"/>
        </p:blipFill>
        <p:spPr>
          <a:xfrm xmlns:a="http://schemas.openxmlformats.org/drawingml/2006/main">
            <a:off x="590550" y="2076450"/>
            <a:ext cx="4857750" cy="28575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45d0bf89242ce"/>
          <a:stretch xmlns:a="http://schemas.openxmlformats.org/drawingml/2006/main"/>
        </p:blipFill>
        <p:spPr>
          <a:xfrm xmlns:a="http://schemas.openxmlformats.org/drawingml/2006/main">
            <a:off x="5905500" y="2076450"/>
            <a:ext cx="4953000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2FED0-090C-4EBC-B682-5F8F72C1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452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D1EA8-7B81-4F68-A408-8C4AB4BF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03DF0-1713-4479-80B2-CBD0C356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81625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Co tu mówić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6B7F1-AC81-4692-B8C5-91CAD30B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57850"/>
            <a:ext cx="423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Więcej epok poprawiło raw accuracy, ale najlepsze ECE nadal pochodzi z kalibracji.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10438-4635-404D-8147-F50CE723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57800"/>
            <a:ext cx="4524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F09C0-2452-44C1-AC82-95148711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578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C0619-6F97-456F-A9EA-648CE185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81625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Koszt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B1C23-8AB6-479B-B3EA-23D17819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57850"/>
            <a:ext cx="4238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DistilBERT 5 epok trwał ok. 416 sekund na MPS przy batch size 8.</a:t>
            </a:r>
          </a:p>
        </p:txBody>
      </p:sp>
    </p:spTree>
    <p:extLst>
      <p:ext uri="{BB962C8B-B14F-4D97-AF65-F5344CB8AC3E}">
        <p14:creationId xmlns:p14="http://schemas.microsoft.com/office/powerpoint/2010/main" val="12453457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4BEFCA-E737-4C7C-88FC-747AF554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05C14-07A5-45C9-A3C6-27A0C9EB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4895E-81B3-4B8F-88CB-E199F32C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reports_transformers/distilbert_5epochs/reliability_bins.csv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C3D7F-9F27-4768-80DC-4A87080C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F7815-F6CA-4772-9F1F-5CDFC5B3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91635-B8DA-4ED5-9032-95707F43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RELIABILITY DIAGRAM POKAZUJE, CZY CONFIDENCE ZACHOWUJE SIĘ JAK PROBABILITY.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A3F19-0873-46DD-A6DE-CF287CDB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Raw DistilBERT jest za pewny w najwyższym koszyku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C8324-BA72-4F7B-B3ED-4842B496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Temperature scaling i isotonic regression przesuwają punkty bliżej przekątnej idealnej kalibracji.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ce0299f3b403e"/>
          <a:stretch xmlns:a="http://schemas.openxmlformats.org/drawingml/2006/main"/>
        </p:blipFill>
        <p:spPr>
          <a:xfrm xmlns:a="http://schemas.openxmlformats.org/drawingml/2006/main">
            <a:off x="552450" y="1943100"/>
            <a:ext cx="7239000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09E17-EECC-46A3-BECF-FFE44231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249DA-0F1B-417B-A297-6AADC0A4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37A22-C8B8-4E29-B2E1-6750F7AA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717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28AF5-D1F3-4D1D-8EE8-22D4BF65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W koszyku 0.9-1.0 confidence wynosi średnio 0.985, ale accuracy tylko 0.867.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77CDA-14F1-4B59-BE56-79952D12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4DF62-C644-498B-8F1D-11B14451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6A3BF-D0F4-4519-9CF8-077DBE6C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671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Temperature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FF797-7762-4109-ADB5-B1C98CF7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433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ECE spada z 0.1127 do 0.0320. Klasy przy progu 0.5 zostają takie same.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CD25B-29F4-4119-9217-B1579A47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3870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E4933-4E96-46F0-B3FB-916ED5F2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387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57A07-C3BC-467A-A291-45E43557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625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Isotonic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AA42C7-1BA5-4283-B280-003F611B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387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Dla DistilBERT 5ep ECE spada do 0.0252 i log-loss do 0.4168.</a:t>
            </a:r>
          </a:p>
        </p:txBody>
      </p:sp>
    </p:spTree>
    <p:extLst>
      <p:ext uri="{BB962C8B-B14F-4D97-AF65-F5344CB8AC3E}">
        <p14:creationId xmlns:p14="http://schemas.microsoft.com/office/powerpoint/2010/main" val="16465261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B4200B-D90D-41D9-B2D3-A40D10EE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5920C-26C4-4CC9-AE15-75F0E0F9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72E94-33DA-474C-BFDA-CCBA4C73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reports_transformers/distilbert_5epochs/error_category_summary.csv i error_examples.md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87B2C-DB20-49F2-9163-A1428D3E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14869-EDF3-4318-90F7-281A7415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58F0B-AD95-48A5-AE70-9AB3DB1B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NAJBARDZIEJ PEWNE BŁĘDY POKAZUJĄ, CZEGO MODEL NIE ROZUMIE.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FBFE3-FCCC-4705-9D5B-3F1D33EF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To już nie jest tylko problem progu: część błędów wynika z metafor, linków, tytułów i kontekstu politycznego.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81FD6-75CF-4DB1-BE41-EE6C4034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Dlatego analiza przykładów jest potrzebna obok metryk.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39BFD-C39C-4CE6-A699-5FF8714B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Raw DistilBERT: high-confidence errors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B9DD2-C29A-43C8-AA1E-F6EC900B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inne false negative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CB3AE-FC6E-49FC-B7E2-361E55CF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62225"/>
            <a:ext cx="228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7A801-5CD5-45CD-8522-C3ECAE52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62225"/>
            <a:ext cx="228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E68C8-9ADD-4954-A767-B60941A7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050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94B43-EB20-4169-95FB-B31562F4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real event underrecognized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B1E53-E96C-43EC-B760-F24100FB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62275"/>
            <a:ext cx="228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BC79F-DB57-43DF-ACEB-F105D95B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62275"/>
            <a:ext cx="203981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6F81E-4F7F-4C21-9193-AA630117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051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D9C50-B79A-4994-BD56-B077BD84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news / policy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77D04-EC7D-4015-A217-AF938FAB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62325"/>
            <a:ext cx="228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D79535-884A-49D8-AE51-8BA31246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62325"/>
            <a:ext cx="66821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284B5-9DD4-4757-B319-00CE48EC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051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A9137-8C2A-4044-BBE8-A077801D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figurative disaster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9466DE-2589-4AB4-99C9-4CF6C806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62375"/>
            <a:ext cx="228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0D949-E765-4102-BEDA-17F1A97C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62375"/>
            <a:ext cx="21101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04D3DE-665E-4583-900A-81D63A3C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0522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0123FC-0A24-405C-A8E8-419DA75E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short / low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2E5E58-EBA7-482B-B41B-FD3B46B8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62425"/>
            <a:ext cx="2286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55B29E-7917-43EE-BD50-B5C1DB73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62425"/>
            <a:ext cx="175846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1B803E-2983-4408-B674-FB69C2C2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05275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916571-6096-407B-B1D3-E476D3B1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4A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DAF43C-D93A-4BAA-9FC8-BD1EAFDD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0FE933-52EB-4F61-BD65-11672E62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false positive: fiction/entertainment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D808B8-D05A-4708-B19F-FD082E1B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38425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„Sassy city girl ... stranded in Smoky Mountain snowstorm” | keyword: snowstorm | confidence raw: 0.998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1A4C87-5910-4AA8-8C12-0835BC37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4CDA2C-3533-4B4A-9464-8CD760BB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71328D-6C3D-4EF9-B107-76EADD24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042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false positive: false alarm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036414-E16C-46B8-8CFF-0B276AE4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„DISASTER AVERTED: Police kill gunman with hoax device at cinema” | confidence raw: 0.998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544A66-6CC6-467C-9CAC-49AD82AE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14825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E9FB3D-696E-4992-BFB8-A49D4A06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148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801494-519C-40E7-B5E5-2457784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386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false negative: ambiguous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85BF88-735A-48C7-AE77-4AD15D1F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14875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„gasped at the cake ‘mudslide’ incident...” | true=1, pred=0 | confidence raw: 0.999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8C64FE-71EE-40FE-BD45-0597D96F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53050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37B3D7-0CF2-4540-851A-D908D74E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53050"/>
            <a:ext cx="666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C0F7A-BDAF-40D0-B61D-7DD4DF85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7687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Wniosek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923BE5-317F-42F2-97FA-A2A77778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53100"/>
            <a:ext cx="381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Kalibracja obniża confidence, ale nie usuwa błędów semantycznych.</a:t>
            </a:r>
          </a:p>
        </p:txBody>
      </p:sp>
    </p:spTree>
    <p:extLst>
      <p:ext uri="{BB962C8B-B14F-4D97-AF65-F5344CB8AC3E}">
        <p14:creationId xmlns:p14="http://schemas.microsoft.com/office/powerpoint/2010/main" val="7345290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0809C5-AB73-4D86-B47A-307B5E6B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B9654-E175-464C-BCF8-53CC55D3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690BB-0687-41B2-9A28-5CEA2458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reports_transformers/distilbert_5epochs/rejection_curves.csv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C92E1-8C19-4BAB-93C2-A4BC8101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F495B-3125-411C-AD11-ECC8ACF4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F5F37-6A51-45F4-8BCC-F58F76EE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MECHANIZM „NIE WIEM” TO PRÓG NA CONFIDENCE.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BB5B8-BAD5-43BA-91A3-9C06D732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Jeśli confidence jest powyżej tau, model odpowiada. Jeśli jest niżej, model odrzuca przykład.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14162-030F-4ED3-BC90-481B7AC9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To zamienia problem w kompromis: mniej odpowiedzi, ale większa trafność odpowiedzi zaakceptowanych.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20d038662460f"/>
          <a:stretch xmlns:a="http://schemas.openxmlformats.org/drawingml/2006/main"/>
        </p:blipFill>
        <p:spPr>
          <a:xfrm xmlns:a="http://schemas.openxmlformats.org/drawingml/2006/main">
            <a:off x="590550" y="2057400"/>
            <a:ext cx="5905500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2BFEE-44A8-4895-920F-6C06F4B8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907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2B5A8-4A78-4B8D-8FA3-F4D09C87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907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B8BB0-D890-4D44-A88D-ABFB10AB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1457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tau = 0.70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31D59-A41D-45BC-A1EA-D600A56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5908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coverage 79.1%, rejected 319, selective accuracy 87.3%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58D81-6395-40CE-8289-22BE351D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D37D1-14F6-4F6B-A708-EC4F735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5D35E-180E-4B87-9EC8-7FFF37C6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45757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tau = 0.85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DDD00-1FB7-471C-BBB6-33531518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7338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coverage 47.7%, rejected 797, selective accuracy 91.7%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ECCA0-CCE6-40DB-85CE-9AE6D451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4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F67DB-6850-4A2B-AD35-665BD193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5884E-6B2A-4423-B7AA-620C1FCB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60057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4A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4A3A"/>
                </a:solidFill>
                <a:latin typeface="Aptos"/>
                <a:ea typeface="Aptos"/>
                <a:cs typeface="Aptos"/>
              </a:rPr>
              <a:t>tau = 0.95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6D152-7535-4B10-A35B-98E75019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768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coverage 15.6%, rejected 1286, selective accuracy 97.9%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A7B40-D231-44D9-A1F1-AEFE5536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86375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W praktyce próg wybieramy według kosztu błędu i kosztu braku odpowiedzi.</a:t>
            </a:r>
          </a:p>
        </p:txBody>
      </p:sp>
    </p:spTree>
    <p:extLst>
      <p:ext uri="{BB962C8B-B14F-4D97-AF65-F5344CB8AC3E}">
        <p14:creationId xmlns:p14="http://schemas.microsoft.com/office/powerpoint/2010/main" val="134587192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3556E4-E0E0-4E91-BA14-A8F92279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81C7A-F10C-4713-8CFA-C1946BED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B1C3C-598E-4DF0-A3F5-E1FE4125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reports/conformal_prediction.csv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C1C7D-54D1-48F7-8939-90468519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D9E33-4B8B-4C21-96A0-3976316F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32373-9E5E-4CE6-84AC-B97FB073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CONFORMAL PREDICTION TO FORMALNIEJSZA WERSJA „NIE WIEM”.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EA542-FB21-49AB-9577-252C9ECB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Zamiast zawsze zwracać jedną klasę, model może zwrócić zbiór klas, np. {0,1}.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51D8D-C212-45DD-A13E-4A451DCD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Im niższe alpha, tym większe pokrycie, ale częściej pojawiają się zbiory niejednoznaczne.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4e27d599c4b87"/>
          <a:stretch xmlns:a="http://schemas.openxmlformats.org/drawingml/2006/main"/>
        </p:blipFill>
        <p:spPr>
          <a:xfrm xmlns:a="http://schemas.openxmlformats.org/drawingml/2006/main">
            <a:off x="552450" y="2057400"/>
            <a:ext cx="723900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BA521-A2FC-489D-8ABD-24CA72A8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3000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20930-BC6C-48CA-A18F-B9369176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1E851-7A60-4383-85F1-A2E8160C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alpha = 0.10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20F97-F4C4-4313-BC0E-10CAE9EE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38425"/>
            <a:ext cx="2714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Target coverage 90%, empirical coverage 91.7%. Singleton rate 67.2%, ambiguous rate 32.8%.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4B63F-28FE-4370-83FF-6904C64E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19500"/>
            <a:ext cx="3000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FC3BD-1C5E-45EF-8A42-AB2D016B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195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EAFBF-F57D-4EE1-ABA5-5E5BBDBB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43325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Jak to interpretować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C5042-0193-4DA5-955F-169EAE15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19550"/>
            <a:ext cx="2714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Jedna klasa: model odpowiada. Zbiór {0,1}: model mówi, że przykład jest niejednoznaczny.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8BCF76-B0A5-4694-8CD3-6FC157C6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00625"/>
            <a:ext cx="3000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2D493-2F70-48C5-854D-389D90DB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0062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E10B1F-C96F-45E6-BCEE-1809D76B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2445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Różnica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85784-58D7-4F9D-A348-7BB5CD1D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00675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Reject threshold kontroluje confidence; conformal kontroluje coverage.</a:t>
            </a:r>
          </a:p>
        </p:txBody>
      </p:sp>
    </p:spTree>
    <p:extLst>
      <p:ext uri="{BB962C8B-B14F-4D97-AF65-F5344CB8AC3E}">
        <p14:creationId xmlns:p14="http://schemas.microsoft.com/office/powerpoint/2010/main" val="2238317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8564CD-2105-4BA5-9714-1CCE379B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A899C-9B4C-4BA7-8D43-04A69E93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5690F-F21A-417E-9610-73A4606E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746A"/>
                </a:solidFill>
                <a:latin typeface="Aptos"/>
                <a:ea typeface="Aptos"/>
                <a:cs typeface="Aptos"/>
              </a:rPr>
              <a:t>Wnioski końcowe projektu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EF843-37B3-49E2-AE6D-C275A1D3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C7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C746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F824A-FF7E-4153-8EEF-CF617FBA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DF674-749D-4C93-8DE5-249B949A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WNIOSEK: TO NIE JEST TYLKO WYBÓR JEDNEGO NAJLEPSZEGO MODELU.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490DF-A36B-4585-81F4-AA28704C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675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02832"/>
                </a:solidFill>
                <a:latin typeface="Aptos Display"/>
                <a:ea typeface="Aptos Display"/>
                <a:cs typeface="Aptos Display"/>
              </a:rPr>
              <a:t>Projekt pokazuje cały proces: model -&gt; kalibracja -&gt; analiza błędów -&gt; decyzja „odpowiedz albo nie wiem”.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46E04-F204-474A-BCFE-D41632B0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Najlepszy wybór zależy od tego, czy ważniejsza jest accuracy, ECE, recall, precision czy koszt błędu.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759F8-C42E-478C-BFE2-E5BFC583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E6F6A-549F-4868-8968-2A7105F0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21916-2B04-4FF7-9419-47800BC3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3B6FB6"/>
                </a:solidFill>
                <a:latin typeface="Aptos Display"/>
                <a:ea typeface="Aptos Display"/>
                <a:cs typeface="Aptos Display"/>
              </a:rPr>
              <a:t>0.832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43696-A408-4E94-A778-C9E98189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najlepsza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4CB01-893E-40DC-9FFE-F45F44C7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5272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DistilBERT 5 epok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9AB44-47F7-46D9-A485-2475C7C5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44EA9-E174-4106-8EB0-DE7C691D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33010-E1B9-4E9F-B2A6-F62B8655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81225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8A7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8A7A"/>
                </a:solidFill>
                <a:latin typeface="Aptos Display"/>
                <a:ea typeface="Aptos Display"/>
                <a:cs typeface="Aptos Display"/>
              </a:rPr>
              <a:t>0.015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750F34-CC08-404C-8534-AECE3291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336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najniższe ECE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BAD82-C4E4-47E7-9221-D8AE1D69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Naive Bayes + isotonic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3A47F-C82A-415A-A1BB-D3ACCE09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85469-03C3-4D81-AFA0-B8B7BE47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66537-A156-4821-AAC7-F268F4C8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81225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9A22"/>
                </a:solidFill>
                <a:latin typeface="Aptos Display"/>
                <a:ea typeface="Aptos Display"/>
                <a:cs typeface="Aptos Display"/>
              </a:rPr>
              <a:t>0.917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1B6AE-BE57-4C0C-AB3C-CABB9FAB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336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E2747-7347-4F72-A90C-8DEBCE28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5272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conformal alpha=0.10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BA7B52-8179-4DE2-8A3D-559C2922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134EFB-1008-4A71-9EBE-A8C640B4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3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E143DA-EBC6-4689-90B7-B8BC6881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81225"/>
            <a:ext cx="182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FA36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5FA36F"/>
                </a:solidFill>
                <a:latin typeface="Aptos Display"/>
                <a:ea typeface="Aptos Display"/>
                <a:cs typeface="Aptos Display"/>
              </a:rPr>
              <a:t>0.873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D7EAB-CE9A-4A3C-A7B2-CA925694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336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832"/>
                </a:solidFill>
                <a:latin typeface="Aptos"/>
                <a:ea typeface="Aptos"/>
                <a:cs typeface="Aptos"/>
              </a:rPr>
              <a:t>selective accuracy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87CE4-BDA7-409A-964E-9A5638B2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5272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8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E6873"/>
                </a:solidFill>
                <a:latin typeface="Aptos"/>
                <a:ea typeface="Aptos"/>
                <a:cs typeface="Aptos"/>
              </a:rPr>
              <a:t>tau=0.70, isotonic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1FA5F-AA05-407E-88DD-65F46970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272B59-D7F8-4A64-B914-DD7BC295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BF7887-0FF0-43E3-A140-D4A89B00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A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7A"/>
                </a:solidFill>
                <a:latin typeface="Aptos"/>
                <a:ea typeface="Aptos"/>
                <a:cs typeface="Aptos"/>
              </a:rPr>
              <a:t>Co powiedzieć na końcu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B620F7-B014-4A29-813F-A53F0399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Accuracy odpowiada na pytanie „czy model trafia?”. ECE odpowiada na pytanie „czy możemy ufać confidence?”.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D86908-03E4-42F9-BC18-22421E04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6FB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E1DC3B-E055-4891-A690-FE5A27EC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F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6A0D24-8F2F-4C24-84A4-0ADE69EF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862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6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B6FB6"/>
                </a:solidFill>
                <a:latin typeface="Aptos"/>
                <a:ea typeface="Aptos"/>
                <a:cs typeface="Aptos"/>
              </a:rPr>
              <a:t>Co wyróżnia projekt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00C431-4ADF-4979-B8E9-1673F2FE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62425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Porównaliśmy klasyki, MLP i Transformer, kilka metod kalibracji, high-confidence errors, reject option i conformal prediction.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D28A1A-3821-4358-B96C-03388FB5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62375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9A2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A4FD38-B422-4761-B7EA-0DCD4889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62375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6FBED4-A16A-488A-9E9C-44159357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862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9A22"/>
                </a:solidFill>
                <a:latin typeface="Aptos"/>
                <a:ea typeface="Aptos"/>
                <a:cs typeface="Aptos"/>
              </a:rPr>
              <a:t>Praktyczna decyzja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A2AA92-BDE8-4384-892D-3A03B688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62425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83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02832"/>
                </a:solidFill>
                <a:latin typeface="Aptos"/>
                <a:ea typeface="Aptos"/>
                <a:cs typeface="Aptos"/>
              </a:rPr>
              <a:t>Jeśli koszt pomyłki jest wysoki, warto pozwolić modelowi odrzucać niepewne przypadki.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E4CE64-205E-4707-9006-348E27D3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0A6CF3-37FA-4CBE-B42C-ECBEAB36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00700"/>
            <a:ext cx="832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Finalnie: kalibrowany model + świadomie dobrany próg „nie wiem” jest bardziej odpowiedzialny niż sam classifier.</a:t>
            </a:r>
          </a:p>
        </p:txBody>
      </p:sp>
    </p:spTree>
    <p:extLst>
      <p:ext uri="{BB962C8B-B14F-4D97-AF65-F5344CB8AC3E}">
        <p14:creationId xmlns:p14="http://schemas.microsoft.com/office/powerpoint/2010/main" val="1361870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2026-06-11T02:39:42.2880000Z</dcterms:created>
  <dcterms:modified xsi:type="dcterms:W3CDTF">2026-06-11T02:39:42.2880000Z</dcterms:modified>
</coreProperties>
</file>