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75feeb46404ae3" /><Relationship Type="http://schemas.openxmlformats.org/officeDocument/2006/relationships/extended-properties" Target="/docProps/app.xml" Id="R31143e3dfe2443d3" /><Relationship Type="http://schemas.openxmlformats.org/officeDocument/2006/relationships/officeDocument" Target="/ppt/presentation.xml" Id="R8813f105f4a14c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b86eea83ef4c45"/>
  </p:sldMasterIdLst>
  <p:notesMasterIdLst>
    <p:notesMasterId xmlns:r="http://schemas.openxmlformats.org/officeDocument/2006/relationships" r:id="Rf1d78a47e580457d"/>
  </p:notesMasterIdLst>
  <p:sldIdLst>
    <p:sldId xmlns:r="http://schemas.openxmlformats.org/officeDocument/2006/relationships" id="256" r:id="R37225ef740bb4ac1"/>
    <p:sldId xmlns:r="http://schemas.openxmlformats.org/officeDocument/2006/relationships" id="257" r:id="R7034f50beb884d46"/>
    <p:sldId xmlns:r="http://schemas.openxmlformats.org/officeDocument/2006/relationships" id="258" r:id="Rce6ec500d9bc41cd"/>
    <p:sldId xmlns:r="http://schemas.openxmlformats.org/officeDocument/2006/relationships" id="259" r:id="R1da0d3e689c94380"/>
    <p:sldId xmlns:r="http://schemas.openxmlformats.org/officeDocument/2006/relationships" id="260" r:id="Ra7440bf744ed4ef9"/>
    <p:sldId xmlns:r="http://schemas.openxmlformats.org/officeDocument/2006/relationships" id="261" r:id="R355787e8a9e54cf2"/>
    <p:sldId xmlns:r="http://schemas.openxmlformats.org/officeDocument/2006/relationships" id="262" r:id="R71a7c570b702491e"/>
    <p:sldId xmlns:r="http://schemas.openxmlformats.org/officeDocument/2006/relationships" id="263" r:id="R9d20a650d28c451d"/>
    <p:sldId xmlns:r="http://schemas.openxmlformats.org/officeDocument/2006/relationships" id="264" r:id="Rbb3b2d4121d94b11"/>
    <p:sldId xmlns:r="http://schemas.openxmlformats.org/officeDocument/2006/relationships" id="265" r:id="R3d5568cd21f04515"/>
    <p:sldId xmlns:r="http://schemas.openxmlformats.org/officeDocument/2006/relationships" id="266" r:id="Rfc4ea9ec5df84e41"/>
    <p:sldId xmlns:r="http://schemas.openxmlformats.org/officeDocument/2006/relationships" id="267" r:id="R347e80a181684a3d"/>
    <p:sldId xmlns:r="http://schemas.openxmlformats.org/officeDocument/2006/relationships" id="268" r:id="Rf2c25afecc9049dc"/>
    <p:sldId xmlns:r="http://schemas.openxmlformats.org/officeDocument/2006/relationships" id="269" r:id="R4838b71dbe534c79"/>
    <p:sldId xmlns:r="http://schemas.openxmlformats.org/officeDocument/2006/relationships" id="270" r:id="Rd81de0fab4654ae8"/>
    <p:sldId xmlns:r="http://schemas.openxmlformats.org/officeDocument/2006/relationships" id="271" r:id="R2e197a6954fb4ad5"/>
    <p:sldId xmlns:r="http://schemas.openxmlformats.org/officeDocument/2006/relationships" id="272" r:id="Rd225b5fdae2a4cfd"/>
    <p:sldId xmlns:r="http://schemas.openxmlformats.org/officeDocument/2006/relationships" id="273" r:id="R0a7f36eb01e0439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b86eea83ef4c45" /><Relationship Type="http://schemas.openxmlformats.org/officeDocument/2006/relationships/theme" Target="/ppt/theme/theme1.xml" Id="Re4de706bd84544e5" /><Relationship Type="http://schemas.openxmlformats.org/officeDocument/2006/relationships/notesMaster" Target="/ppt/notesMasters/notesMaster1.xml" Id="Rf1d78a47e580457d" /><Relationship Type="http://schemas.openxmlformats.org/officeDocument/2006/relationships/presProps" Target="/ppt/presProps.xml" Id="R541b11f658f94fb7" /><Relationship Type="http://schemas.openxmlformats.org/officeDocument/2006/relationships/viewProps" Target="/ppt/viewProps.xml" Id="Ref6031b815a247dd" /><Relationship Type="http://schemas.openxmlformats.org/officeDocument/2006/relationships/tableStyles" Target="/ppt/tableStyles.xml" Id="Rcd5c72b5ea16464a" /><Relationship Type="http://schemas.openxmlformats.org/officeDocument/2006/relationships/slide" Target="/ppt/slides/slide1.xml" Id="R37225ef740bb4ac1" /><Relationship Type="http://schemas.openxmlformats.org/officeDocument/2006/relationships/slide" Target="/ppt/slides/slide2.xml" Id="R7034f50beb884d46" /><Relationship Type="http://schemas.openxmlformats.org/officeDocument/2006/relationships/slide" Target="/ppt/slides/slide3.xml" Id="Rce6ec500d9bc41cd" /><Relationship Type="http://schemas.openxmlformats.org/officeDocument/2006/relationships/slide" Target="/ppt/slides/slide4.xml" Id="R1da0d3e689c94380" /><Relationship Type="http://schemas.openxmlformats.org/officeDocument/2006/relationships/slide" Target="/ppt/slides/slide5.xml" Id="Ra7440bf744ed4ef9" /><Relationship Type="http://schemas.openxmlformats.org/officeDocument/2006/relationships/slide" Target="/ppt/slides/slide6.xml" Id="R355787e8a9e54cf2" /><Relationship Type="http://schemas.openxmlformats.org/officeDocument/2006/relationships/slide" Target="/ppt/slides/slide7.xml" Id="R71a7c570b702491e" /><Relationship Type="http://schemas.openxmlformats.org/officeDocument/2006/relationships/slide" Target="/ppt/slides/slide8.xml" Id="R9d20a650d28c451d" /><Relationship Type="http://schemas.openxmlformats.org/officeDocument/2006/relationships/slide" Target="/ppt/slides/slide9.xml" Id="Rbb3b2d4121d94b11" /><Relationship Type="http://schemas.openxmlformats.org/officeDocument/2006/relationships/slide" Target="/ppt/slides/slide10.xml" Id="R3d5568cd21f04515" /><Relationship Type="http://schemas.openxmlformats.org/officeDocument/2006/relationships/slide" Target="/ppt/slides/slide11.xml" Id="Rfc4ea9ec5df84e41" /><Relationship Type="http://schemas.openxmlformats.org/officeDocument/2006/relationships/slide" Target="/ppt/slides/slide12.xml" Id="R347e80a181684a3d" /><Relationship Type="http://schemas.openxmlformats.org/officeDocument/2006/relationships/slide" Target="/ppt/slides/slide13.xml" Id="Rf2c25afecc9049dc" /><Relationship Type="http://schemas.openxmlformats.org/officeDocument/2006/relationships/slide" Target="/ppt/slides/slide14.xml" Id="R4838b71dbe534c79" /><Relationship Type="http://schemas.openxmlformats.org/officeDocument/2006/relationships/slide" Target="/ppt/slides/slide15.xml" Id="Rd81de0fab4654ae8" /><Relationship Type="http://schemas.openxmlformats.org/officeDocument/2006/relationships/slide" Target="/ppt/slides/slide16.xml" Id="R2e197a6954fb4ad5" /><Relationship Type="http://schemas.openxmlformats.org/officeDocument/2006/relationships/slide" Target="/ppt/slides/slide17.xml" Id="Rd225b5fdae2a4cfd" /><Relationship Type="http://schemas.openxmlformats.org/officeDocument/2006/relationships/slide" Target="/ppt/slides/slide18.xml" Id="R0a7f36eb01e043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d3ede0a8e054e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3bb92c854a4527" /><Relationship Type="http://schemas.openxmlformats.org/officeDocument/2006/relationships/notesMaster" Target="/ppt/notesMasters/notesMaster1.xml" Id="Rfc0c432b44aa4d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57dd91bc6d4fdf" /><Relationship Type="http://schemas.openxmlformats.org/officeDocument/2006/relationships/notesMaster" Target="/ppt/notesMasters/notesMaster1.xml" Id="R5f4e5b825a4a41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15d31eddfa4335" /><Relationship Type="http://schemas.openxmlformats.org/officeDocument/2006/relationships/notesMaster" Target="/ppt/notesMasters/notesMaster1.xml" Id="R73ea98b0575a4e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39fe0349c344fa" /><Relationship Type="http://schemas.openxmlformats.org/officeDocument/2006/relationships/notesMaster" Target="/ppt/notesMasters/notesMaster1.xml" Id="Rca6e5165431745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ba0f1f6a80496b" /><Relationship Type="http://schemas.openxmlformats.org/officeDocument/2006/relationships/notesMaster" Target="/ppt/notesMasters/notesMaster1.xml" Id="R491acdd28f1642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17d1f6fd74409b" /><Relationship Type="http://schemas.openxmlformats.org/officeDocument/2006/relationships/notesMaster" Target="/ppt/notesMasters/notesMaster1.xml" Id="R0187b351c7334c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0384f9ccc741a9" /><Relationship Type="http://schemas.openxmlformats.org/officeDocument/2006/relationships/notesMaster" Target="/ppt/notesMasters/notesMaster1.xml" Id="R554468fe72d742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bc39439f674c3f" /><Relationship Type="http://schemas.openxmlformats.org/officeDocument/2006/relationships/notesMaster" Target="/ppt/notesMasters/notesMaster1.xml" Id="R0cf1439c83f543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1624aa8df54c6f" /><Relationship Type="http://schemas.openxmlformats.org/officeDocument/2006/relationships/notesMaster" Target="/ppt/notesMasters/notesMaster1.xml" Id="Rb9012ff0dcb444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08d64a727e461c" /><Relationship Type="http://schemas.openxmlformats.org/officeDocument/2006/relationships/notesMaster" Target="/ppt/notesMasters/notesMaster1.xml" Id="Red5578cc303c47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9ae03c21d24cdb" /><Relationship Type="http://schemas.openxmlformats.org/officeDocument/2006/relationships/notesMaster" Target="/ppt/notesMasters/notesMaster1.xml" Id="Rfd59c49021ed4c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a7710875df54b06" /><Relationship Type="http://schemas.openxmlformats.org/officeDocument/2006/relationships/notesMaster" Target="/ppt/notesMasters/notesMaster1.xml" Id="R5f14c401efc148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01ec3cf26c44513" /><Relationship Type="http://schemas.openxmlformats.org/officeDocument/2006/relationships/notesMaster" Target="/ppt/notesMasters/notesMaster1.xml" Id="Rae8269eb65fd45b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6940b33bddf4b88" /><Relationship Type="http://schemas.openxmlformats.org/officeDocument/2006/relationships/notesMaster" Target="/ppt/notesMasters/notesMaster1.xml" Id="Ra2f8cdeceac5490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e41330073cb40a4" /><Relationship Type="http://schemas.openxmlformats.org/officeDocument/2006/relationships/notesMaster" Target="/ppt/notesMasters/notesMaster1.xml" Id="R435e4624c5a7480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2161db811c942cb" /><Relationship Type="http://schemas.openxmlformats.org/officeDocument/2006/relationships/notesMaster" Target="/ppt/notesMasters/notesMaster1.xml" Id="R6edd19272e3e4f3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29a9f739f274c3d" /><Relationship Type="http://schemas.openxmlformats.org/officeDocument/2006/relationships/notesMaster" Target="/ppt/notesMasters/notesMaster1.xml" Id="R43985fd59827469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19151c8d04245d8" /><Relationship Type="http://schemas.openxmlformats.org/officeDocument/2006/relationships/notesMaster" Target="/ppt/notesMasters/notesMaster1.xml" Id="R84ea80fbe2004a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8b36fe37ff4ed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8406e0a41cc4407" /><Relationship Type="http://schemas.openxmlformats.org/officeDocument/2006/relationships/slideLayout" Target="/ppt/slideLayouts/slideLayout2.xml" Id="Rafa29e98b94d41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a29e98b94d41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b6f4db9d40459d" /><Relationship Type="http://schemas.openxmlformats.org/officeDocument/2006/relationships/notesSlide" Target="/ppt/notesSlides/notesSlide1.xml" Id="R6a7e58d53e934e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7467c4f1cf4233" /><Relationship Type="http://schemas.openxmlformats.org/officeDocument/2006/relationships/image" Target="/ppt/media/image.png" Id="R0f1196d4afb44383" /><Relationship Type="http://schemas.openxmlformats.org/officeDocument/2006/relationships/notesSlide" Target="/ppt/notesSlides/notesSlide2.xml" Id="Rc93bf0e456ed4b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0448c27d934ffa" /><Relationship Type="http://schemas.openxmlformats.org/officeDocument/2006/relationships/notesSlide" Target="/ppt/notesSlides/notesSlide3.xml" Id="R92db8f6158b54f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198ce15d0c422f" /><Relationship Type="http://schemas.openxmlformats.org/officeDocument/2006/relationships/notesSlide" Target="/ppt/notesSlides/notesSlide4.xml" Id="R4f52a286e3d347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848a4c39dc416b" /><Relationship Type="http://schemas.openxmlformats.org/officeDocument/2006/relationships/notesSlide" Target="/ppt/notesSlides/notesSlide5.xml" Id="R31d5f7a9730d4e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6aceec6f704ddf" /><Relationship Type="http://schemas.openxmlformats.org/officeDocument/2006/relationships/image" Target="/ppt/media/image2.png" Id="R5a9979142c744726" /><Relationship Type="http://schemas.openxmlformats.org/officeDocument/2006/relationships/notesSlide" Target="/ppt/notesSlides/notesSlide6.xml" Id="Re30b702a11ed4b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ad16c0bafb4a79" /><Relationship Type="http://schemas.openxmlformats.org/officeDocument/2006/relationships/notesSlide" Target="/ppt/notesSlides/notesSlide7.xml" Id="R968f4df017b340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a5e434910d4608" /><Relationship Type="http://schemas.openxmlformats.org/officeDocument/2006/relationships/notesSlide" Target="/ppt/notesSlides/notesSlide8.xml" Id="Rb27d66ee5e7142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59cf1992a64779" /><Relationship Type="http://schemas.openxmlformats.org/officeDocument/2006/relationships/image" Target="/ppt/media/image3.png" Id="R30931b66b0574d8f" /><Relationship Type="http://schemas.openxmlformats.org/officeDocument/2006/relationships/notesSlide" Target="/ppt/notesSlides/notesSlide9.xml" Id="R039e3e625c6048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82436bd92a4951" /><Relationship Type="http://schemas.openxmlformats.org/officeDocument/2006/relationships/image" Target="/ppt/media/image4.png" Id="R1b7637115c7d4da6" /><Relationship Type="http://schemas.openxmlformats.org/officeDocument/2006/relationships/image" Target="/ppt/media/image5.png" Id="R58cc6c8a87e748d0" /><Relationship Type="http://schemas.openxmlformats.org/officeDocument/2006/relationships/notesSlide" Target="/ppt/notesSlides/notesSlide10.xml" Id="R45df529755b441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9e5b5b3901445d" /><Relationship Type="http://schemas.openxmlformats.org/officeDocument/2006/relationships/image" Target="/ppt/media/image6.png" Id="R2e36c54995054992" /><Relationship Type="http://schemas.openxmlformats.org/officeDocument/2006/relationships/notesSlide" Target="/ppt/notesSlides/notesSlide11.xml" Id="Rb32f5f3e7b1747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a78236b87c4df3" /><Relationship Type="http://schemas.openxmlformats.org/officeDocument/2006/relationships/notesSlide" Target="/ppt/notesSlides/notesSlide12.xml" Id="Re11d3b97b3f0460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c9f54ec2574801" /><Relationship Type="http://schemas.openxmlformats.org/officeDocument/2006/relationships/notesSlide" Target="/ppt/notesSlides/notesSlide13.xml" Id="Rf180029beabf470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f0a3688faa4e36" /><Relationship Type="http://schemas.openxmlformats.org/officeDocument/2006/relationships/image" Target="/ppt/media/image7.png" Id="Raf96e035ddf742b1" /><Relationship Type="http://schemas.openxmlformats.org/officeDocument/2006/relationships/notesSlide" Target="/ppt/notesSlides/notesSlide14.xml" Id="R6006232d689b436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c6666f816644b1" /><Relationship Type="http://schemas.openxmlformats.org/officeDocument/2006/relationships/image" Target="/ppt/media/image8.png" Id="Rbb4c0207d5964e8c" /><Relationship Type="http://schemas.openxmlformats.org/officeDocument/2006/relationships/notesSlide" Target="/ppt/notesSlides/notesSlide15.xml" Id="R9f2b81c88b1a48a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47e67bfaa64856" /><Relationship Type="http://schemas.openxmlformats.org/officeDocument/2006/relationships/notesSlide" Target="/ppt/notesSlides/notesSlide16.xml" Id="Rde0390f78c0145e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61fc20fd6a4c96" /><Relationship Type="http://schemas.openxmlformats.org/officeDocument/2006/relationships/notesSlide" Target="/ppt/notesSlides/notesSlide17.xml" Id="R1b6987a27f0841d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d0c07ca6104747" /><Relationship Type="http://schemas.openxmlformats.org/officeDocument/2006/relationships/notesSlide" Target="/ppt/notesSlides/notesSlide18.xml" Id="R42a59732cf8d41d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4B3762-0CA8-46B6-B33F-3AEE5B25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441C6-E983-46A2-9C9E-F489FCBE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23AC7-479B-49B6-BB32-73C48229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746A"/>
                </a:solidFill>
                <a:latin typeface="Aptos"/>
                <a:ea typeface="Aptos"/>
                <a:cs typeface="Aptos"/>
              </a:rPr>
              <a:t>Projekt PSI | Disaster Tweets | kalibracja i niepewność modelu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161D0-180E-4E77-AF90-1DEBACBE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746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BF23F-5C1B-4375-B47B-42D6C339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83F8EB-C15C-4CB1-8818-1023BDAD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PYTANIE PROJEKTU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BA4C1-226C-4023-956A-BE024890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rPr>
              <a:t>Kiedy model powinien powiedzieć „nie wiem”?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CB683-8313-4DDD-A2FF-E6CA065F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Klasyfikacja tweetów katastroficznych z kalibracją pewności, analizą błędów i mechanizmem odrzucania predykcji.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F48F5E-7AF9-40B7-B58E-0E48776F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685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rPr>
              <a:t>Teza: dobry wynik accuracy nie wystarcza, jeśli confidence modelu nie zachowuje się jak prawdopodobieństwo.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E60BC3-3826-40B3-920D-21E6F3AA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470DE7-534C-4876-B3BD-FC95A067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8AD8D9-FBEB-405D-9322-72208F65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154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B6FB6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3B6FB6"/>
                </a:solidFill>
                <a:latin typeface="Aptos Display"/>
                <a:ea typeface="Aptos Display"/>
                <a:cs typeface="Aptos Display"/>
              </a:rPr>
              <a:t>7 613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CF1BEF-E16E-4C39-942B-48EC2FF6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tweetów z etykietą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21E1CF-0613-4A24-ABA5-F1E948AD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Kaggle Disaster Tweets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9E4DD2-A8DD-4324-92E4-6542D30A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71850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CE9A9F-0E22-4EDD-961C-14E1CDE4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718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3C581F-3273-4250-9885-732ECAFD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05200"/>
            <a:ext cx="154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8A7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68A7A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52A771-D382-4CAC-84D7-0D1DD1C1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57625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rodzin modeli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6ACE4F-F44D-4CBA-9724-3C57CD14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76700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TF-IDF, MLP, Transformer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EA12E2-587E-4E45-89B9-988CDA64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71850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6D1EE3-B60D-47F2-B1D8-EB05E00C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718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072FCA-99CA-4496-A078-EB784EEC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05200"/>
            <a:ext cx="154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FA36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5FA36F"/>
                </a:solidFill>
                <a:latin typeface="Aptos Display"/>
                <a:ea typeface="Aptos Display"/>
                <a:cs typeface="Aptos Display"/>
              </a:rPr>
              <a:t>0.015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71A738-CDC4-4F95-B2AF-27F4B51F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57625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najniższe ECE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542B44-893E-435B-82DF-D73D65B9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76700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Naive Bayes + isotonic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F6B9A7-1F95-41CF-891D-D3E6FCBF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71850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1D0309-1C88-4785-85AA-47885AC4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718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499E2D-E64A-4F03-822D-895ABBB5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154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99A22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D99A22"/>
                </a:solidFill>
                <a:latin typeface="Aptos Display"/>
                <a:ea typeface="Aptos Display"/>
                <a:cs typeface="Aptos Display"/>
              </a:rPr>
              <a:t>416 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2440F7-5D3D-48FC-A986-24CAB2BF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57625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DistilBERT 5 epok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F953F4-0A49-4DD4-ABEE-EBA83934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76700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MPS, batch size 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7FA73C-B814-4695-920D-4D93AE7A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CEF2FA-8B8F-44AE-B18D-2523BFC5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B4B284-4773-405A-9976-2A836656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017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Tweet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399826-5214-4F40-BD2D-184500DA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054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krótki tekst + keyword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E0D02D-59B7-4AE2-94B3-6173AA17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387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F9B3D7-71D5-490B-8B08-196EBAA3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863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D0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D4D27C-8679-4613-8F35-A094236F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04825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0BE8A7-FA6C-4271-A7A9-572D4C83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048250"/>
            <a:ext cx="1905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B8048A-EDB3-4307-9954-E8EA3C47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210175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76AC8B-3F78-4957-8434-6B09A603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054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prawdopodobieństwo katastrofy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3BBD13-34D8-43EA-AFFB-F7FD5712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4387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2CBBF2-F2B9-4E0A-884F-F0135318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863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D0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A40753-79F9-4642-94E0-908993B5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0482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1B9A23-64C2-4C88-BE9D-679A2B43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0482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446C47-C7D5-4BB3-9B07-EABBAF06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210175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Kalibracja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6861A3B-C72A-41AF-BB1E-56F6C8BF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5054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confidence bliżej realnej poprawności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1F9912-E498-4FA8-9048-C79791C1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4387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95D7C28-33AC-4911-9371-D242DCCB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863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D0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C096518-F212-4FCA-8B08-FB4FEF3B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04825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D03CCE8-E304-4E15-93EF-001D596C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0482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0CB6406-E869-4770-A2AD-D5ED57B4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10175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Decyzja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75093B4-FFA9-4FF2-92E7-A04628BD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054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odpowiedz albo zwróć „nie wiem”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418A467-614D-44FC-9DCE-8E555A21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2476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Na prezentacji pokazujemy nie tylko kto ma najlepsze F1, ale czy modelowi wolno ufać, kiedy mówi: „jestem prawie pewny”.</a:t>
            </a:r>
          </a:p>
        </p:txBody>
      </p:sp>
    </p:spTree>
    <p:extLst>
      <p:ext uri="{BB962C8B-B14F-4D97-AF65-F5344CB8AC3E}">
        <p14:creationId xmlns:p14="http://schemas.microsoft.com/office/powerpoint/2010/main" val="1180227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841981-A0D0-4721-A6B3-C247733A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42D0C-C7CA-45AE-A73C-9C0F9C63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EC274-9E92-4E43-A8E9-79085120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746A"/>
                </a:solidFill>
                <a:latin typeface="Aptos"/>
                <a:ea typeface="Aptos"/>
                <a:cs typeface="Aptos"/>
              </a:rPr>
              <a:t>Wymaganie projektu: diagnoza confidence vs correctness, reliability diagram, ECE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D5B13D-B41A-4628-9B86-429234CD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746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F9B00-390A-4C46-9D0B-84A26FA5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88176-8F8D-4009-893B-8512C338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SENS KALIBRACJI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43C736-0DB9-4D7F-9460-9312D877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rPr>
              <a:t>Accuracy nie mówi, czy 90% pewności znaczy 90% poprawności.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25BAA4-BEB6-422F-87D7-13E7CF0C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Kalibracja sprawdza jakość prawdopodobieństw. To inne pytanie niż sama klasyfikacja 0/1.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196d4afb44383"/>
          <a:stretch xmlns:a="http://schemas.openxmlformats.org/drawingml/2006/main"/>
        </p:blipFill>
        <p:spPr>
          <a:xfrm xmlns:a="http://schemas.openxmlformats.org/drawingml/2006/main">
            <a:off x="590550" y="2000250"/>
            <a:ext cx="5334000" cy="3429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EFDEC-EBFA-4D41-AE9D-E4A9FB3A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286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B6FB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CE704-606A-45C6-B1B1-54097C69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A739BF-C425-43DE-8EA6-54804FA5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240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6FB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B6FB6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0D11AB-A0AD-44BC-9150-E36E75AB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Maksymalne prawdopodobieństwo klasy po modelu, np. max(P(disaster), P(not disaster)).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4401FE-3379-46A4-9429-62C7BD6B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57550"/>
            <a:ext cx="4286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93F81A-837F-461F-B1DA-A7C4BAC6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575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04F50F-4C65-4BE6-A796-126F2969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81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Reliability diagram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9B9100-B72F-43E0-91FD-431A6EEA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57600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Dzielimy predykcje na koszyki pewności i porównujemy średnią pewność ze średnią poprawnością.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DEEEF9-A2EF-4D95-A82D-9CBD0B17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4286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9A2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98553E-9A1B-4825-904D-2347A66F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03ACD4-6C77-4C2E-BB9B-860595DE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386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A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9A22"/>
                </a:solidFill>
                <a:latin typeface="Aptos"/>
                <a:ea typeface="Aptos"/>
                <a:cs typeface="Aptos"/>
              </a:rPr>
              <a:t>ECE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BE8D5A-214F-4296-9585-1216A946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914900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Expected Calibration Error: średnia ważona odległość między confidence i accuracy w koszykach.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63E337-60DD-4E96-B7BA-9E935725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53100"/>
            <a:ext cx="885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Na prezentacji: „model może mieć dobrą accuracy, ale nadal dawać zbyt ostre prawdopodobieństwa, więc źle nadaje się do decyzji z progiem”.</a:t>
            </a:r>
          </a:p>
        </p:txBody>
      </p:sp>
    </p:spTree>
    <p:extLst>
      <p:ext uri="{BB962C8B-B14F-4D97-AF65-F5344CB8AC3E}">
        <p14:creationId xmlns:p14="http://schemas.microsoft.com/office/powerpoint/2010/main" val="48398146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89693E-5D26-4AD4-9B03-E3C0A5BB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118E5-2498-4EBF-ABE5-34AE9E35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DDEFD8-B9CD-46BB-BEE6-FB6CA94F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746A"/>
                </a:solidFill>
                <a:latin typeface="Aptos"/>
                <a:ea typeface="Aptos"/>
                <a:cs typeface="Aptos"/>
              </a:rPr>
              <a:t>Dane: nlp-getting-started/train.csv | split stratified 60/20/20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5D47F-F2B0-4EFF-9E25-35D6171E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746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933199-F590-4600-BA8C-29D6E431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AE9A5D-446B-4200-96F1-D7289C9A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PIPELINE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7EA88-F0CF-4D40-A3C2-2643CB91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rPr>
              <a:t>Uczenie, kalibracja i test są rozdzielone, żeby nie oszukiwać ECE.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20D755-A9EE-42D4-A621-6162F625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Kalibrator uczy się na osobnym zbiorze calibration, a finalne metryki liczymy dopiero na test.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4EBA3D-5CD5-4AA0-924F-A77FC4AC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1762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0CC45-884E-44D9-B961-4BAFC042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EC87C-779C-4F4A-94FC-33C16EA1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85975"/>
            <a:ext cx="1495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B6FB6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3B6FB6"/>
                </a:solidFill>
                <a:latin typeface="Aptos Display"/>
                <a:ea typeface="Aptos Display"/>
                <a:cs typeface="Aptos Display"/>
              </a:rPr>
              <a:t>4 568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9806D-9C5A-464A-BF4B-F3EEB7E2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14954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9B4FDF-A80D-4E44-8620-6C27B44E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7475"/>
            <a:ext cx="14954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uczenie modeli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A16EEF-EC54-4A9D-8AB8-640E82A3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52625"/>
            <a:ext cx="1762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62527F-B3B9-45D7-8D9B-371F1EE7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52625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37A52E-B75F-43CE-AA73-ED05D5CD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85975"/>
            <a:ext cx="1495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99A22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D99A22"/>
                </a:solidFill>
                <a:latin typeface="Aptos Display"/>
                <a:ea typeface="Aptos Display"/>
                <a:cs typeface="Aptos Display"/>
              </a:rPr>
              <a:t>1 522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E8A2F4-3D55-4042-A174-C1775645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38400"/>
            <a:ext cx="14954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calibration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F71F44-0732-4273-842F-FD46BE08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57475"/>
            <a:ext cx="14954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temperature/isotonic/conformal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CF5B0C-7E77-466E-A7D2-B227F87C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52625"/>
            <a:ext cx="1762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973081-4428-4DE1-8EDD-5B1D2D94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52625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6285ED-9062-41E6-9878-56D09419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85975"/>
            <a:ext cx="1495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FA36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5FA36F"/>
                </a:solidFill>
                <a:latin typeface="Aptos Display"/>
                <a:ea typeface="Aptos Display"/>
                <a:cs typeface="Aptos Display"/>
              </a:rPr>
              <a:t>1 523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75F2CF-4E62-44D9-87B5-0CB72747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38400"/>
            <a:ext cx="14954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0B61B0-3260-4A23-BD59-AC9F0B3E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57475"/>
            <a:ext cx="14954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finalna ocena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C64228-E78F-4B0D-82E5-DB09941D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52625"/>
            <a:ext cx="1762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E0A209-AAC6-4C52-A99C-01CAE1C5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52625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455F9F-70EE-4D68-B16E-B1ABDF32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85975"/>
            <a:ext cx="1495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84A3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D84A3A"/>
                </a:solidFill>
                <a:latin typeface="Aptos Display"/>
                <a:ea typeface="Aptos Display"/>
                <a:cs typeface="Aptos Display"/>
              </a:rPr>
              <a:t>43.0%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91E3E5-8AEE-44F7-A58C-597D2997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38400"/>
            <a:ext cx="14954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disaster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284D9F-54E3-4B4B-984A-A945F002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57475"/>
            <a:ext cx="14954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3271 / 7613 tweetów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A2235A-9149-44B8-859B-A23E586D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6B293C-3A74-40A7-A42B-F8E5DEC7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5CBF2A-AAD4-4EAC-8DDF-F4F72385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81425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1. Tekst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D47C4A-84C4-4D1F-9FC2-C55F8AA8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767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text + keyword, bez ręcznego czyszczenia etykiet testowych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443692-7169-4C96-800A-6F081F9B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767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529AB2-DF33-4873-B179-E1283824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243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D0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64AF20-12FF-4201-B988-427D40BA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1950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1256EC-1611-41A7-A224-CD65DF8E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195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E710B8-A9A6-4FE7-A50C-B21D489F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8142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2. Modele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1FB067-D546-4A0F-8C4B-65842ED6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0767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TF-IDF + LR/NB/SVM, MLP na embeddingach, DistilBERT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397BCF-A196-4784-9D19-137D4683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767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F9FE62-AAC5-47E9-BBB1-D1B2959D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9243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D0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2CA182-A527-47F6-89AF-688DE3F9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195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4492E7-DE62-4DC4-9E6E-73E62DB1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1950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950BD7-14A2-4F3F-B4B7-42726471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8142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3. Kalibracja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5C1F35-DD7F-45EA-AF7A-DDB05DF6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767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temperature scaling, isotonic, label smoothing, ensemble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3E6490-6320-448C-910B-9C8EC666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767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2A0AF23-C61D-4E00-AC23-099C252C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243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D0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8D9E3BF-3985-4033-BB6D-C54C3967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195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650B94B-D163-46F7-8DE8-45730407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1950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F514088-F840-4C4B-80B1-50825698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8142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4. Niepewność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6073CDA-83C9-4DFC-97FF-5B0CA3EF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767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ECE, reliability, high-confidence errors, reject option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38D75E7-A519-4C00-AD4F-6D676FDD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767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3789318-7242-4CCF-957A-32D4A476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243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D0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6E9378C-802A-49B1-B41C-A270B607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1950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ECBEABC-004A-4552-ACC1-ED1E3E4A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195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8AF33FD-739F-4629-B901-4DC6A389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81425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5. Decyzja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AB9BDBF-5A61-4545-BEB7-D995C03F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767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odpowiedź lub „nie wiem”; dodatkowo conformal sets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84F8538-932B-4C5D-8BB6-84EC3BEF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10782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DC5EB67-B8A9-4F0C-A6FC-1758F0A9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9858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Moc obliczeniowa: klasyczne modele uruchamiają się lekko na CPU. DistilBERT 5 epok na MPS trwał ok. 416 sekund; Llama-3-8B byłby dużo cięższy do pełnego fine-tuningu i raczej wymagałby chmury albo LoRA/quantization.</a:t>
            </a:r>
          </a:p>
        </p:txBody>
      </p:sp>
    </p:spTree>
    <p:extLst>
      <p:ext uri="{BB962C8B-B14F-4D97-AF65-F5344CB8AC3E}">
        <p14:creationId xmlns:p14="http://schemas.microsoft.com/office/powerpoint/2010/main" val="20934880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3174D4-2FC8-4F22-BBCA-228A7568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5F6112-69D4-4799-AAFE-B3AC5F01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000595-34A4-4BEE-983C-B32D2519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746A"/>
                </a:solidFill>
                <a:latin typeface="Aptos"/>
                <a:ea typeface="Aptos"/>
                <a:cs typeface="Aptos"/>
              </a:rPr>
              <a:t>reports/model_comparison.md oraz reports_transformers/distilbert_5epochs/model_comparison.md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54EC8-2EFA-4CE2-9CCA-C6E61244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746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B5900-26A5-48F2-B9E8-1EC2E807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5A6C37-B554-4BE2-9210-A282C45B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WYNIKI BAZOWE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D9960D-E6F8-4E02-941C-C9DCE642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rPr>
              <a:t>Baseline jest sensowny, ale ECE ujawnia różnice niewidoczne w F1.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EACD83-2BCE-4B12-8E8A-8A73061C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Logistic Regression i Naive Bayes są zaskakująco dobrze skalibrowane; MLP, SVM i surowy DistilBERT mają wyraźniejszy problem pewności.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D01868-41F7-45BB-B1ED-F7D68FC6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72390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027C10-C6A4-4D05-9615-4D1DC5A4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40083D-F4AC-43F5-87E3-B8C010E6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2781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873"/>
                </a:solidFill>
                <a:latin typeface="Aptos"/>
                <a:ea typeface="Aptos"/>
                <a:cs typeface="Aptos"/>
              </a:rPr>
              <a:t>model / metoda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9562A3-4E09-44C9-980A-69C6C283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66925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873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08BF91-9309-41A0-BFF7-91B9FDC1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66925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873"/>
                </a:solidFill>
                <a:latin typeface="Aptos"/>
                <a:ea typeface="Aptos"/>
                <a:cs typeface="Aptos"/>
              </a:rPr>
              <a:t>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08DB64-B98E-4EC9-A0DF-0B927F86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66925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873"/>
                </a:solidFill>
                <a:latin typeface="Aptos"/>
                <a:ea typeface="Aptos"/>
                <a:cs typeface="Aptos"/>
              </a:rPr>
              <a:t>ECE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3367BF-1103-4AA3-9D19-0C3FBB5D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66925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873"/>
                </a:solidFill>
                <a:latin typeface="Aptos"/>
                <a:ea typeface="Aptos"/>
                <a:cs typeface="Aptos"/>
              </a:rPr>
              <a:t>wniosek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0BEAB1-0112-468F-A6C3-CE56DBF0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5267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617671-4024-4E5E-B9B1-3F8B7E79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LogReg TF-IDF / raw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BBC7CA-5E2D-4338-89C7-E2F38EFE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384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.803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9C357F-D1E0-435C-9769-4D223B2C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384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.759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A35AB7-CA29-4C99-9798-E9FDB4BC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384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23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.0246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2E3F17-6758-4EC1-B67A-234B6788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193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silny, prosty baseline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FFC00E-431F-4606-B808-5D41BFCF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5272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4CD33F-0133-4763-8E51-61D74806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SVM TF-IDF / raw margin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C298BC-A602-47EC-956A-44F1923A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384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.808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103B5C-967A-496D-8415-268D6A0A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384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.765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6B9473-1593-4017-8800-EA1A2037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384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923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.0820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2A4729-44A4-49C9-BBC4-9CDA53D2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194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F1 dobre, ale pewność słaba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2AEC01-A5F3-42B3-B808-2C966FA8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5277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6FF09E-B77F-4C9B-91F0-5D13C28E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MLP embeddings / raw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677B5E-886D-44CB-8A15-1DE40BCB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385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.734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3B2D43-027B-42FC-BB15-C4764B26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.729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2069DC-112C-411C-B6F8-3AAD3291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385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923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.1654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8E8BD9-FB80-48F5-864D-DCB70B77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194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największa nadpewność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B0AC18-9712-4D8F-8828-DC5AD182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5282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7C58A8-36BC-4446-B124-DC013DF1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Naive Bayes / raw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71AE60-40F8-4D22-9578-C4DB820D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385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.798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314E2E-D468-44C7-962C-B8128F34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385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.731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C31344-D3B0-4765-88F7-EF291795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6385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23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.0156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075A8D-FCDB-48F2-ACEF-5536C439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195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baseline już bardzo kalibrowany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4C3467-4092-42E3-AAAD-0A53008D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5287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CA32E2-85D3-4704-B298-98EA3A4A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23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DistilBERT 5ep / raw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2B419DE-CC1F-4D93-9E5F-A7C3DC44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386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.832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FB1AF6-2823-47EB-9E9E-44FBD4AF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.782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2018E6-CEFA-4045-9320-7C860E2B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386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923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.1127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ACB115-1FA0-44B8-971D-C3DD6A98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195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najlepsza klasyfikacja, ale surowe ECE wysokie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373C9A-DD3D-4975-954D-8D1EE47D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193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B4455C-1CE4-460E-A1C2-71A388FC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193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8AC031D-2A15-413A-A169-4B167718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43125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Najważniejszy punkt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14B6440-B22C-42BD-926B-D60A3DE9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19350"/>
            <a:ext cx="2762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Nie każda kalibracja musi dramatycznie poprawiać ECE. Jeśli baseline jest już dobrze skalibrowany, zysk może być mały.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83EC5EE-87C1-4A90-B235-FBE2A67F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671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ECE przed kalibracją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F3A65D9-D482-429E-902C-EE34F978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671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MLP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69BB3E6-E9C6-4185-9BC4-50C38167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14775"/>
            <a:ext cx="1428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C6A572B-57D5-4D50-8207-B74BD449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14775"/>
            <a:ext cx="139009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CB50075-C543-4DBA-BDFE-30EFCF98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8576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.165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6992A17-EDF3-4EEF-A512-32439107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719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DistilBERT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6DF2AFA-70C2-4D23-8416-0B021844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19575"/>
            <a:ext cx="1428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D943947-3216-4911-9071-C8D21810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19575"/>
            <a:ext cx="947177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DFEBF86-2672-4079-8B0E-B3AF686F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624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.113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525A844-43AF-4512-BE5F-508376BC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67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SVM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97EEE3D-485A-4D1F-8534-3B61824E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524375"/>
            <a:ext cx="1428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D1B6428-08D4-4127-8436-0932A87A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524375"/>
            <a:ext cx="689162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E4EF689-1928-4C51-BB40-04C735B3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4672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99A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9A22"/>
                </a:solidFill>
                <a:latin typeface="Aptos"/>
                <a:ea typeface="Aptos"/>
                <a:cs typeface="Aptos"/>
              </a:rPr>
              <a:t>.082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012D258-11D0-4A96-BE67-326BF04D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815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LogReg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0B3AA80-EDD4-455C-A2A6-2C611711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829175"/>
            <a:ext cx="1428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6F5D451-B23D-4911-8759-51863DB5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829175"/>
            <a:ext cx="206749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49C9D6A-4B98-4652-AAAF-F078F3AD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7720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.025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239C414-0953-46DE-9B30-FD2648CE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863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Naive Bayes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B7671C2-CF05-45FE-9C33-66AD5F56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133975"/>
            <a:ext cx="1428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1204BC7-841C-42FB-AE2E-04DF2ABA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133975"/>
            <a:ext cx="131109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F64FB2A-A66B-4529-99FA-F11C512A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0768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A3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A36F"/>
                </a:solidFill>
                <a:latin typeface="Aptos"/>
                <a:ea typeface="Aptos"/>
                <a:cs typeface="Aptos"/>
              </a:rPr>
              <a:t>.016</a:t>
            </a:r>
          </a:p>
        </p:txBody>
      </p:sp>
    </p:spTree>
    <p:extLst>
      <p:ext uri="{BB962C8B-B14F-4D97-AF65-F5344CB8AC3E}">
        <p14:creationId xmlns:p14="http://schemas.microsoft.com/office/powerpoint/2010/main" val="19228514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D7FCF9-728E-4883-9E5D-A1051238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E5F8D-60C6-4017-AC92-642FE7BD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42CAC-2F04-40C9-8FA4-F26DDAE1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746A"/>
                </a:solidFill>
                <a:latin typeface="Aptos"/>
                <a:ea typeface="Aptos"/>
                <a:cs typeface="Aptos"/>
              </a:rPr>
              <a:t>Metody: temperature scaling, isotonic regression, label smoothing, bootstrap ensemble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909A2-8BB7-4E76-A888-0FCC1BAA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746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A5B0C-4D65-4AC3-817A-D4E57F79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E89738-E168-4E69-8B89-12C0BFB5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KALIBRACJA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9D6060-2136-4D29-867C-D2311AD3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rPr>
              <a:t>Różne metody poprawiają różne typy błędnej pewności.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136E7D-C820-4385-891D-555E7059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Dlatego porównujemy kilka metod, a nie zakładamy, że jedna kalibracja zawsze wygrywa.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506062-8003-4B79-AA2C-22C4BB05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1908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BE4E5-8EDE-44D5-91BC-FA98B37E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681F9D-53B0-4F6F-B76B-0C2029B5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2905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Temperature Scaling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5B1E8B-2A78-43A7-8BD9-A762D99D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9051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Uczy jeden parametr T na logits. T &gt; 1 zmiękcza prawdopodobieństwa: klasy zwykle się nie zmieniają, ale confidence spada tam, gdzie model był zbyt pewny.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C9F0C9-D1EE-43C7-B8B8-BF82C692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81200"/>
            <a:ext cx="31908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B6F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64146-A196-43A4-94E5-274E993A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812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5441F1-242D-4D6F-B525-E56088D5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05025"/>
            <a:ext cx="2905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6FB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B6FB6"/>
                </a:solidFill>
                <a:latin typeface="Aptos"/>
                <a:ea typeface="Aptos"/>
                <a:cs typeface="Aptos"/>
              </a:rPr>
              <a:t>Isotonic Regression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0D0AD4-D122-4120-B5B1-E9C9F4BE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81250"/>
            <a:ext cx="29051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Uczy monotoniczną funkcję mapującą score na prawdopodobieństwo. Jest elastyczna, więc potrafi poprawić ECE mocniej, ale wymaga danych kalibracyjnych.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2C758F-19C8-4545-A64C-5163100C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81200"/>
            <a:ext cx="31908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9A2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E61F06-85F9-422E-9D5F-5DB60563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812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9AD980-7EFB-47FA-883B-C231BF65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05025"/>
            <a:ext cx="2905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A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9A22"/>
                </a:solidFill>
                <a:latin typeface="Aptos"/>
                <a:ea typeface="Aptos"/>
                <a:cs typeface="Aptos"/>
              </a:rPr>
              <a:t>Label smoothing / Ensemble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9DA626-E0DB-4211-9E3F-7ADFF20F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81250"/>
            <a:ext cx="29051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Label smoothing zmniejsza pewność podczas treningu. Ensemble uśrednia predykcje, przez co redukuje wariancję i zbyt ostre decyzje pojedynczego modelu.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1C8CB5-23B2-4D11-93E0-68107C15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Najmocniejsze poprawy ECE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DD9CEB-F0E9-4330-B317-47998EF8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MLP raw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21F3FC-B66B-49C7-927A-209071BD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200525"/>
            <a:ext cx="23336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4FB8B6-D37C-4390-855A-57FD2D63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200525"/>
            <a:ext cx="227048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118206-D4B4-4688-82C1-09B96724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14337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.165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BC0FAA-4096-4169-ACE3-D78C7A41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48175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MLP + temperature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00BF05-7D00-4D09-8D28-051CDDE9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495800"/>
            <a:ext cx="23336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66AACA-6C9B-4EFF-BE3D-4B5963F0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495800"/>
            <a:ext cx="23199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626CCC-5FBD-46A7-B4B7-66E18B75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4386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.017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9FE0E8-27BE-47E1-B907-35402549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SVM raw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CEF1A3-60DE-42EF-AF1F-E4AF05D7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91075"/>
            <a:ext cx="23336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05FF46-3EC6-4797-874B-7B5DBE55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91075"/>
            <a:ext cx="1125631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34DEF8-70B0-4684-A4CC-655FF5AE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7339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.082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573D93-9F4B-4CE7-838B-39695479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38725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SVM + isotonic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C3CFFD-43CA-4E53-8627-43860F5B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086350"/>
            <a:ext cx="23336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97184A-1C18-46DF-955B-F78AFC99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086350"/>
            <a:ext cx="356907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030F73-9147-44A9-9376-07891726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0292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3B6FB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B6FB6"/>
                </a:solidFill>
                <a:latin typeface="Aptos"/>
                <a:ea typeface="Aptos"/>
                <a:cs typeface="Aptos"/>
              </a:rPr>
              <a:t>.026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0109F1-6097-4BF9-AF19-C97BE948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DistilBERT raw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893A91-AF33-4A1C-B1A3-AF5D7F3F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381625"/>
            <a:ext cx="23336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0D4A6A-F647-480B-B67A-7F99DFB9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381625"/>
            <a:ext cx="1547056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05AA98-D795-42BD-B489-FFF202BC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32447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.113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51D0D4-F77A-48E2-9FC6-0F08EC04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29275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DistilBERT + isotonic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8AA5AF-CB00-44F3-96E0-BF513B6E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676900"/>
            <a:ext cx="23336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6F3FA4-7797-495A-91E5-AF914097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676900"/>
            <a:ext cx="345926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A5C952E-1DD0-4B21-9029-5FAA6BC2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6197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3B6FB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B6FB6"/>
                </a:solidFill>
                <a:latin typeface="Aptos"/>
                <a:ea typeface="Aptos"/>
                <a:cs typeface="Aptos"/>
              </a:rPr>
              <a:t>.025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E025B60-A2BE-4A16-B97E-0DADBC84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81450"/>
            <a:ext cx="4524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019883C-4C98-4224-8669-B1F9A6B4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2910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Dlaczego baseline ECE bywa podobne?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85A51A4-B8E6-4FCB-8E7C-C1B04EAD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86300"/>
            <a:ext cx="390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3EFE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3EFE7"/>
                </a:solidFill>
                <a:latin typeface="Aptos"/>
                <a:ea typeface="Aptos"/>
                <a:cs typeface="Aptos"/>
              </a:rPr>
              <a:t>Bo niektóre modele, np. Naive Bayes lub Logistic Regression, na tym podziale już produkują sensowne prawdopodobieństwa. Kalibracja nie jest magią: najbardziej pomaga tam, gdzie model jest nadpewny.</a:t>
            </a:r>
          </a:p>
        </p:txBody>
      </p:sp>
    </p:spTree>
    <p:extLst>
      <p:ext uri="{BB962C8B-B14F-4D97-AF65-F5344CB8AC3E}">
        <p14:creationId xmlns:p14="http://schemas.microsoft.com/office/powerpoint/2010/main" val="44494946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14D333-EF26-48EB-933B-84DABB0C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F9EBD-79A6-463C-9E9D-AEA86F31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C0836-A13E-4287-9E74-38A3B1B8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746A"/>
                </a:solidFill>
                <a:latin typeface="Aptos"/>
                <a:ea typeface="Aptos"/>
                <a:cs typeface="Aptos"/>
              </a:rPr>
              <a:t>reports_transformers/distilbert_5epochs/reliability_bins.csv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3372A-C90D-4FE8-920F-C08A5107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746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CE918-8542-45B7-A4B9-98A280C4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9A9D2A-30BE-4594-AAF2-B7CECA88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RELIABILITY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98111-0A63-4A14-B02E-CAC839C4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rPr>
              <a:t>DistilBERT po 5 epokach klasyfikuje dobrze, ale surowa pewność jest za ostra.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9876D5-B783-4224-86B3-B72246AD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Kalibracja nie musi poprawiać accuracy, żeby poprawić użyteczność prawdopodobieństw.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9979142c744726"/>
          <a:stretch xmlns:a="http://schemas.openxmlformats.org/drawingml/2006/main"/>
        </p:blipFill>
        <p:spPr>
          <a:xfrm xmlns:a="http://schemas.openxmlformats.org/drawingml/2006/main">
            <a:off x="552450" y="1847850"/>
            <a:ext cx="7239000" cy="4095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062108-7BAE-40A9-AD37-F3076057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7645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4A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692568-26C6-4432-80D0-439E599A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764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EB7E6-27E0-4512-8356-D5A0999D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0027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Surowy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48976-95AF-40D5-BA16-5C0418F2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7650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W koszyku 0.9-1.0 ma średnią pewność 0.985, ale poprawność 0.867. To klasyczna nadpewność.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34A39A-EA7F-4FC2-A42F-0ECB7A71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7185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C56617-2C81-4FCE-8733-8A09B672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718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B0AD99-C8B3-453C-94D4-3492CE63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9567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Temperature scaling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9C716C-8175-46C9-ACB4-532AA72A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7190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T = 2.6303 obniża ostrość predykcji i zbija ECE z 0.1127 do 0.0320 bez zmiany klas przy progu 0.5.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B251BA-19DA-494E-AFB7-F625BF13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6725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B6FB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0C0F26-5AD7-4B12-B61C-D4605A31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672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ACF0E8-C7C0-4A81-BBDE-6B5B8780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9107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6FB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B6FB6"/>
                </a:solidFill>
                <a:latin typeface="Aptos"/>
                <a:ea typeface="Aptos"/>
                <a:cs typeface="Aptos"/>
              </a:rPr>
              <a:t>Isotonic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553D1E-3C2F-4A25-BE0D-2E6C8702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6730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Najniższe ECE w DistilBERT 5ep: 0.0252 oraz najlepszy log-loss: 0.4168.</a:t>
            </a:r>
          </a:p>
        </p:txBody>
      </p:sp>
    </p:spTree>
    <p:extLst>
      <p:ext uri="{BB962C8B-B14F-4D97-AF65-F5344CB8AC3E}">
        <p14:creationId xmlns:p14="http://schemas.microsoft.com/office/powerpoint/2010/main" val="17089502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9A7624-172F-4EF7-A4B9-DED45DDD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5FF71-4B01-4A5E-B5F1-F6CC238B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CBE64A-5A67-402A-9DB4-E6D01FA1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746A"/>
                </a:solidFill>
                <a:latin typeface="Aptos"/>
                <a:ea typeface="Aptos"/>
                <a:cs typeface="Aptos"/>
              </a:rPr>
              <a:t>reports_transformers/distilbert_5epochs/metrics_summary.csv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03CE8-3864-458B-AF9D-721A2ACE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746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2EB242-F5BF-4C86-8204-24EF9198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B32CA-FEF0-4BD5-AF96-80B79656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MACIERZ POMYŁEK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79BE3-72D7-40D7-8FAD-5ADEA9CA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rPr>
              <a:t>Kalibracja zmienia koszt błędów: mniej false positives, trochę więcej false negatives.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0715C1-3DE0-4426-95AB-E6B0B40E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Dla aplikacji alarmowej to ważniejsza informacja niż sama accuracy.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24F5D-A6DC-48B9-85BD-C789C798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098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DistilBERT raw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105543-75B7-4571-8BD9-207E513A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5717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873"/>
                </a:solidFill>
                <a:latin typeface="Aptos"/>
                <a:ea typeface="Aptos"/>
                <a:cs typeface="Aptos"/>
              </a:rPr>
              <a:t>pred: 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6066A9-CA21-4AD9-869D-0F47A444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5717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873"/>
                </a:solidFill>
                <a:latin typeface="Aptos"/>
                <a:ea typeface="Aptos"/>
                <a:cs typeface="Aptos"/>
              </a:rPr>
              <a:t>pred: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7B1792-D3C5-4737-B071-9A0120E8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099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873"/>
                </a:solidFill>
                <a:latin typeface="Aptos"/>
                <a:ea typeface="Aptos"/>
                <a:cs typeface="Aptos"/>
              </a:rPr>
              <a:t>true: 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DCD409-2F89-47DA-AC20-AF909998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100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873"/>
                </a:solidFill>
                <a:latin typeface="Aptos"/>
                <a:ea typeface="Aptos"/>
                <a:cs typeface="Aptos"/>
              </a:rPr>
              <a:t>true: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1897E-EDAE-459F-BDAA-DB3BF0F6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8003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FE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D4DCEB-C3C2-434C-8AE7-1A78FBE6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933700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A3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A36F"/>
                </a:solidFill>
                <a:latin typeface="Aptos"/>
                <a:ea typeface="Aptos"/>
                <a:cs typeface="Aptos"/>
              </a:rPr>
              <a:t>TN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837FD3-7F11-4EBE-88B3-C18CA2D9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171825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807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083F0-9597-487E-A962-1B195058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8003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C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1790FA-9D8D-475D-B99E-4226CEA2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933700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FP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A394DC-10B5-492E-8968-61EB550A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171825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62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A4B29E-8B7E-4BC0-9D80-FB6E8DCA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6195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B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B36821-B0ED-4BF6-87C3-AEA739C4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752850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9A2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9A22"/>
                </a:solidFill>
                <a:latin typeface="Aptos"/>
                <a:ea typeface="Aptos"/>
                <a:cs typeface="Aptos"/>
              </a:rPr>
              <a:t>FN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CD8415-FD43-4A9C-931D-1BCBBF21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990975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194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49A259-FCA8-4E42-9379-1BD919EF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6195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FE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85222E-0E3D-4CC6-A264-CED70E70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752850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A3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A36F"/>
                </a:solidFill>
                <a:latin typeface="Aptos"/>
                <a:ea typeface="Aptos"/>
                <a:cs typeface="Aptos"/>
              </a:rPr>
              <a:t>TP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2F5328-024D-4173-AC2B-F85404D7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990975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460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193593-C412-4605-8594-E0E4B524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098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B6FB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B6FB6"/>
                </a:solidFill>
                <a:latin typeface="Aptos"/>
                <a:ea typeface="Aptos"/>
                <a:cs typeface="Aptos"/>
              </a:rPr>
              <a:t>DistilBERT + isotonic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43F8C5-DB8C-4E93-9FEC-66174F1F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717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873"/>
                </a:solidFill>
                <a:latin typeface="Aptos"/>
                <a:ea typeface="Aptos"/>
                <a:cs typeface="Aptos"/>
              </a:rPr>
              <a:t>pred: 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86C213-7691-4D3A-86DB-E32F5FB2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873"/>
                </a:solidFill>
                <a:latin typeface="Aptos"/>
                <a:ea typeface="Aptos"/>
                <a:cs typeface="Aptos"/>
              </a:rPr>
              <a:t>pred: 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6A109E-5AFF-44D1-8178-654E53FC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099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873"/>
                </a:solidFill>
                <a:latin typeface="Aptos"/>
                <a:ea typeface="Aptos"/>
                <a:cs typeface="Aptos"/>
              </a:rPr>
              <a:t>true: 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90E5DD-5288-44AF-B705-ABF62EC0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100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873"/>
                </a:solidFill>
                <a:latin typeface="Aptos"/>
                <a:ea typeface="Aptos"/>
                <a:cs typeface="Aptos"/>
              </a:rPr>
              <a:t>true: 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9D28FF-548B-4C95-BCEE-E0CF868B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003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FE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FD049B-E74D-4A28-BCD8-9BA22A27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33700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A3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A36F"/>
                </a:solidFill>
                <a:latin typeface="Aptos"/>
                <a:ea typeface="Aptos"/>
                <a:cs typeface="Aptos"/>
              </a:rPr>
              <a:t>TN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2B8515-74E6-4258-9267-D338B622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71825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813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1D74A2-1D4B-4BC5-8960-F7CE3B2B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003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C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BBFD38-0988-4A1D-92B7-C5C4BF5E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33700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FP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2322FA-B2E7-49BB-A33C-812B22E7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71825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56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760C77-4E0F-4BD1-AF98-2BCE5EAD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195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B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7537F0-433E-4DCA-BFCA-764909B6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752850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9A2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9A22"/>
                </a:solidFill>
                <a:latin typeface="Aptos"/>
                <a:ea typeface="Aptos"/>
                <a:cs typeface="Aptos"/>
              </a:rPr>
              <a:t>FN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72F7B7-7874-4367-9F9D-BFBD72F9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990975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200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4F26E1-04E0-476E-809C-CE5E3D32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195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FE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FD2BF0-FC45-462E-B28F-BCA9685B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52850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A3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A36F"/>
                </a:solidFill>
                <a:latin typeface="Aptos"/>
                <a:ea typeface="Aptos"/>
                <a:cs typeface="Aptos"/>
              </a:rPr>
              <a:t>TP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3B3185-2C65-4137-92E8-91B1BC36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90975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454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14B45F-16ED-4BD8-8350-EA564857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FA36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4571BB4-BD56-435B-9FFF-EBA2B4CC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FFEAEA8-1AFC-43C4-9A2A-C30B6F52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669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A36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FA36F"/>
                </a:solidFill>
                <a:latin typeface="Aptos"/>
                <a:ea typeface="Aptos"/>
                <a:cs typeface="Aptos"/>
              </a:rPr>
              <a:t>FP spadają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F7E075-59ED-45AE-A22A-6DD631B9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43175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62 -&gt; 56: mniej tweetów niekatastroficznych oznaczonych jako katastrofa.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32B9E5A-4D1D-469D-91FF-7D2C5F3C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0520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9A2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AD72EB-13AA-4468-9F79-453A2711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052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323CEE-F31B-402E-928B-7223034D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2902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A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9A22"/>
                </a:solidFill>
                <a:latin typeface="Aptos"/>
                <a:ea typeface="Aptos"/>
                <a:cs typeface="Aptos"/>
              </a:rPr>
              <a:t>FN rosną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0724BA5-575E-4D2B-861B-CD0217BF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05250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194 -&gt; 200: model trochę częściej przepuszcza prawdziwą katastrofę.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2A7377F-3AF7-4EC9-942E-2158D62E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76800"/>
            <a:ext cx="257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2AEF3FF-6B38-4FF0-A765-D40D080C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76800"/>
            <a:ext cx="666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13B5EA2-6CE9-451E-90C2-CFF1EBFB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00062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Prezentacyjny wniosek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967CE7A-5307-4E22-9AF3-B57025D4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276850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Wybór metody zależy od kosztu FP vs FN, a nie tylko od jednej metryki.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C7E68BD-E857-431B-AC16-3C2FBA11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86375"/>
            <a:ext cx="4095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B668CA4-CC19-4944-A571-60EA62D6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81650"/>
            <a:ext cx="609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Accuracy pozostaje 0.8319 w obu wariantach, ale rozkład błędów i wiarygodność prawdopodobieństw nie są takie same.</a:t>
            </a:r>
          </a:p>
        </p:txBody>
      </p:sp>
    </p:spTree>
    <p:extLst>
      <p:ext uri="{BB962C8B-B14F-4D97-AF65-F5344CB8AC3E}">
        <p14:creationId xmlns:p14="http://schemas.microsoft.com/office/powerpoint/2010/main" val="17192082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9EAED7-1E24-4BCE-A7A7-3BDD5664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E9E64-225E-4F92-B7FD-A28F32A4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B2B15-A4CB-4E66-BA87-F8048FB9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746A"/>
                </a:solidFill>
                <a:latin typeface="Aptos"/>
                <a:ea typeface="Aptos"/>
                <a:cs typeface="Aptos"/>
              </a:rPr>
              <a:t>reports_transformers/distilbert_5epochs/error_category_summary.csv oraz error_examples.md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4885A-076D-4696-9F30-E7F2873E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746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3C200-9BFB-41FF-B9B5-FCBF137D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B569C-8289-4261-88E5-33409DB7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BŁĘDY WYSOKIEJ PEWNOŚCI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3DF6E-0101-490E-98C6-096BF409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rPr>
              <a:t>Najtrudniejsze błędy są semantyczne: model myli katastrofę, metaforę, link i kontekst polityczny.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4B482-5574-44A9-A5B8-1942A918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To jest dobra część prezentacji, bo pokazuje, że projekt nie kończy się na tabelce z metrykami.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A5630-0C53-4427-BFEF-8F11C78E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Raw DistilBERT: high-confidence errors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84ABB8-2B80-4A9F-9AA7-25DB0EC0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inne false negative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80142A-AFCC-4A2F-B152-282B512D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466975"/>
            <a:ext cx="22383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CDFB3C-2C7A-401A-97A0-82DE0156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466975"/>
            <a:ext cx="22383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DE58F0-D037-43DA-BEF1-6621E0F7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098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65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966A3E-8A6B-4F6C-A75B-FE0192F7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real event underrecognized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CB56DA-68AE-49F0-A652-A23E827B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828925"/>
            <a:ext cx="22383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093719-6246-4039-8CDA-544B53BE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828925"/>
            <a:ext cx="1997319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7B7E0F-667F-47C6-9CEB-C82B206F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7177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58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E7E9E-1699-468F-A267-D6FBFDE4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news / policy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A7B2CE-C041-4BC5-9344-49B18E01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190875"/>
            <a:ext cx="22383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51895D-2B16-4943-8FF8-BEDEDF46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190875"/>
            <a:ext cx="654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CFE225-0AC2-4EE9-93FD-B0ABDCC8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337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99A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9A22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4D74F7-5EB2-4BC3-95A8-19C6E52C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figurative disaster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26DFA4-8B2D-4D59-A1B3-4DF9C7D8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552825"/>
            <a:ext cx="22383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0D318C-BD72-49E2-BB6A-CC4BF539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552825"/>
            <a:ext cx="206619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FA01DE-B610-4207-B48B-6C1EBD10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9567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99A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9A22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622C8F-8FC5-4E05-AC13-F0ACC9A1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short / low context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EC355C-9C24-429D-811C-BCD7DFE1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914775"/>
            <a:ext cx="22383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2D3A46-68E6-464A-85D5-565AB41D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914775"/>
            <a:ext cx="17218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DD30C7-E2C7-446C-8685-FEE37C2F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576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3B6FB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B6FB6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F2019C-ED67-477B-80DC-59862693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missed event terms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CEE78C-0685-4F44-A561-83490F12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276725"/>
            <a:ext cx="22383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DDE206-807C-4127-A87D-F4673514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276725"/>
            <a:ext cx="17218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7E02AB-C1FA-464D-953E-498DB201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1957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3B6FB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B6FB6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F2AFBF-FC1E-4AAE-8646-2462455E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57400"/>
            <a:ext cx="476250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8F7A3A-34B1-44FA-B5E6-1BE2E198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Przykłady do omówienia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736813-665B-4863-ABFD-9644C554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4114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5"/>
          </a:solidFill>
          <a:ln xmlns:a="http://schemas.openxmlformats.org/drawingml/2006/main" w="11430">
            <a:solidFill>
              <a:srgbClr val="D84A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5CD8B2-AAED-4C92-8528-AA8E98A2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1E3432-6EA6-419C-9A4E-89D9B6CB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47975"/>
            <a:ext cx="382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false positive: entertainment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C7D4FC-6FF8-4C51-BF8F-363920F4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24200"/>
            <a:ext cx="382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„Sassy city girl ... stranded in Smoky Mountain snowstorm” | keyword: snowstorm | confidence raw: 0.998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043B67-1D68-4892-AD34-D4AA33BE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76650"/>
            <a:ext cx="4114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5"/>
          </a:solidFill>
          <a:ln xmlns:a="http://schemas.openxmlformats.org/drawingml/2006/main" w="11430">
            <a:solidFill>
              <a:srgbClr val="D99A2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51E794-601B-4A04-B760-00BD3E7C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7665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821C8B-4961-42CB-88E4-50C9FC8D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00475"/>
            <a:ext cx="382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A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9A22"/>
                </a:solidFill>
                <a:latin typeface="Aptos"/>
                <a:ea typeface="Aptos"/>
                <a:cs typeface="Aptos"/>
              </a:rPr>
              <a:t>false positive: false alarm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42149B8-4028-43D9-B3A9-A2FE9086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76700"/>
            <a:ext cx="382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„DISASTER AVERTED: Police kill gunman with hoax device at cinema” | keyword: disaster | confidence raw: 0.998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288AAB-50CE-45FA-BCEA-6F832E1A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4114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11430">
            <a:solidFill>
              <a:srgbClr val="3B6FB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6267E9-32B2-4673-81FF-CA60FCF6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3E7E69-58B0-4D83-A196-2968E0C4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52975"/>
            <a:ext cx="382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6FB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B6FB6"/>
                </a:solidFill>
                <a:latin typeface="Aptos"/>
                <a:ea typeface="Aptos"/>
                <a:cs typeface="Aptos"/>
              </a:rPr>
              <a:t>false negative: figurative/ambiguous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C2A670B-0851-4B6C-A292-C8F8AA2F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29200"/>
            <a:ext cx="382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„gasped at the cake ‘mudslide’ incident...” | true=1, pred=0 | confidence raw: 0.999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1466D07-9BA3-4C57-96CA-4C79ED82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14950"/>
            <a:ext cx="481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Po kalibracji confidence tych błędów zwykle spada, ale semantyczne pomyłki nie znikają automatycznie.</a:t>
            </a:r>
          </a:p>
        </p:txBody>
      </p:sp>
    </p:spTree>
    <p:extLst>
      <p:ext uri="{BB962C8B-B14F-4D97-AF65-F5344CB8AC3E}">
        <p14:creationId xmlns:p14="http://schemas.microsoft.com/office/powerpoint/2010/main" val="173680864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2C797C-C37E-4E22-8B4B-D6DC3DCD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22D84-5FD9-43B1-9350-47A890E1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E534B-D91C-41A1-B6E3-67C0A408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746A"/>
                </a:solidFill>
                <a:latin typeface="Aptos"/>
                <a:ea typeface="Aptos"/>
                <a:cs typeface="Aptos"/>
              </a:rPr>
              <a:t>reports_transformers/distilbert_5epochs/rejection_curves.csv oraz reports/conformal_prediction.csv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FECD7-C8C7-45F7-AA63-27735A55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746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33097D-C8B8-4586-BB15-E3EEAADC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9757E-A2C4-4703-9703-BFF6BB65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NIE WIEM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A048A-10D4-4B39-9DF9-0AFE3149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rPr>
              <a:t>Próg confidence zamienia model w system, który może odmówić odpowiedzi.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02C64-8AB9-4F08-A91E-75D6F334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To nie poprawia wszystkich predykcji; poprawia jakość tych, na które system decyduje się odpowiedzieć.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931b66b0574d8f"/>
          <a:stretch xmlns:a="http://schemas.openxmlformats.org/drawingml/2006/main"/>
        </p:blipFill>
        <p:spPr>
          <a:xfrm xmlns:a="http://schemas.openxmlformats.org/drawingml/2006/main">
            <a:off x="552450" y="1962150"/>
            <a:ext cx="5905500" cy="2857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1B6FF0-6025-47DD-B6BF-39CF66B4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95875"/>
            <a:ext cx="533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803ED2-B068-455F-A00D-2BAF556B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Reguła: jeśli confidence &gt;= tau, odpowiadamy; inaczej zwracamy „nie wiem”.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690BA-3263-4EAE-A612-141FE114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62150"/>
            <a:ext cx="3952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9967C1-C19D-4D4C-A560-32CC9A23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621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C536BF-D894-449D-B27E-2CC2CFBC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85975"/>
            <a:ext cx="3667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tau = 0.70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61E7B9-99B5-4A01-8F47-A2089C05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62200"/>
            <a:ext cx="3667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coverage 79.1%, rejected 319, selective accuracy 87.3%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6D6B26-5539-47BD-883F-A07367B3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05150"/>
            <a:ext cx="3952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9A2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BA4ABB-AAF0-4D47-AB2A-2F2A9AD6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051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0179B4-D905-4811-8B40-22C15E2D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28975"/>
            <a:ext cx="3667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A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9A22"/>
                </a:solidFill>
                <a:latin typeface="Aptos"/>
                <a:ea typeface="Aptos"/>
                <a:cs typeface="Aptos"/>
              </a:rPr>
              <a:t>tau = 0.85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4ABB3A-D8D4-4D16-89CC-9B61F2C7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05200"/>
            <a:ext cx="3667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coverage 47.7%, rejected 797, selective accuracy 91.7%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6BCF36-640B-4B79-B468-073EC80A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48150"/>
            <a:ext cx="39528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B6FB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F1B886-103B-4B08-A940-6C3CA170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481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C6447D-1E74-4EDA-8FAB-58C36D33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71975"/>
            <a:ext cx="3667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6FB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B6FB6"/>
                </a:solidFill>
                <a:latin typeface="Aptos"/>
                <a:ea typeface="Aptos"/>
                <a:cs typeface="Aptos"/>
              </a:rPr>
              <a:t>Conformal prediction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F89FED-67A8-40EA-97C7-05899105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48200"/>
            <a:ext cx="36671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Dla LogReg przy alpha=0.10: empirical coverage 91.7%, singleton rate 67.2%, ambiguous rate 32.8%. Zamiast jednej klasy można zwrócić zbiór {0,1}.</a:t>
            </a:r>
          </a:p>
        </p:txBody>
      </p:sp>
    </p:spTree>
    <p:extLst>
      <p:ext uri="{BB962C8B-B14F-4D97-AF65-F5344CB8AC3E}">
        <p14:creationId xmlns:p14="http://schemas.microsoft.com/office/powerpoint/2010/main" val="1429504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9503BD-72F4-4775-B7B2-15C9C777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F5829-4B9B-4BCA-A266-6D4D9055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EF2A7-7F79-4AE7-80BE-221C1583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746A"/>
                </a:solidFill>
                <a:latin typeface="Aptos"/>
                <a:ea typeface="Aptos"/>
                <a:cs typeface="Aptos"/>
              </a:rPr>
              <a:t>reports_transformers/distilbert oraz reports_transformers/distilbert_5epochs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5E9AB-3227-4F34-9C04-091D318F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746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25BC4-A4AA-4D72-A82B-76D3B9AD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6AA32-6B13-4D04-85FF-03226DE9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TRANSFORMER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076623-E8BE-4A60-BFFF-AC52E641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rPr>
              <a:t>DistilBERT poprawił klasyfikację, ale więcej epok nie rozwiązuje kalibracji.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17A4A4-3632-4DED-820C-609FC47C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Loss spadał szybko, natomiast jakość confidence nadal wymagała temperature scaling albo isotonic regression.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7637115c7d4da6"/>
          <a:stretch xmlns:a="http://schemas.openxmlformats.org/drawingml/2006/main"/>
        </p:blipFill>
        <p:spPr>
          <a:xfrm xmlns:a="http://schemas.openxmlformats.org/drawingml/2006/main">
            <a:off x="552450" y="2000250"/>
            <a:ext cx="4857750" cy="2857500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cc6c8a87e748d0"/>
          <a:stretch xmlns:a="http://schemas.openxmlformats.org/drawingml/2006/main"/>
        </p:blipFill>
        <p:spPr>
          <a:xfrm xmlns:a="http://schemas.openxmlformats.org/drawingml/2006/main">
            <a:off x="5810250" y="2000250"/>
            <a:ext cx="4953000" cy="2857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E92D2-D442-45E8-88E4-72AEEB2A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4667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19D8DE-023C-4CAC-9EF3-A99F4DD5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666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5C6C97-14A7-4DF6-80A8-0AB15147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8637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Co zrobiliśmy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CEB6B1-449B-4B6C-8944-C9808917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2600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Uruchomiliśmy DistilBERT-base-uncased lokalnie na MPS. Wariant 5 epok trwał ok. 416 s przy batch size 8.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ACE674-359E-40F1-9166-403B1826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62550"/>
            <a:ext cx="495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9A2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90FC17-478E-457A-8887-9D11C087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62550"/>
            <a:ext cx="666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F87C7F-F693-40E4-9019-7F4B0AE9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86375"/>
            <a:ext cx="466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A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9A22"/>
                </a:solidFill>
                <a:latin typeface="Aptos"/>
                <a:ea typeface="Aptos"/>
                <a:cs typeface="Aptos"/>
              </a:rPr>
              <a:t>Wniosek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8D0F8B-B841-4BF5-A9BE-84285238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562600"/>
            <a:ext cx="466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5 epok poprawiło raw accuracy względem 3 epok, ale najlepsze ECE w porównaniu nadal pochodziło z kalibracji, nie z samego wydłużenia treningu.</a:t>
            </a:r>
          </a:p>
        </p:txBody>
      </p:sp>
    </p:spTree>
    <p:extLst>
      <p:ext uri="{BB962C8B-B14F-4D97-AF65-F5344CB8AC3E}">
        <p14:creationId xmlns:p14="http://schemas.microsoft.com/office/powerpoint/2010/main" val="15491631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5B5325-B7C2-440F-A341-05E387FE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3DE68-A773-400B-B71E-F0731D84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05178-2AA6-41E5-8D70-1EDA9791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746A"/>
                </a:solidFill>
                <a:latin typeface="Aptos"/>
                <a:ea typeface="Aptos"/>
                <a:cs typeface="Aptos"/>
              </a:rPr>
              <a:t>reports_more_epochs/model_comparison.md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FB84F-0F31-49C7-8AD3-167E311C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746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33A9D-9FF5-4CAB-A57D-8EE6BF4D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C692B-3488-46A8-9EBA-8BBC4DAE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WIĘCEJ EPOK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6F22F2-DC55-4FC6-BDD3-616815B2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rPr>
              <a:t>Dłuższy trening klasycznych modeli nie dał jednoznacznie lepszego projektu.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3DE5C4-A6A1-403C-9B29-757B3733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Sprawdziliśmy więcej epok dla MLP i dłuższe ustawienia eksperymentu, ale końcowa decyzja zależała od F1 oraz ECE.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6c54995054992"/>
          <a:stretch xmlns:a="http://schemas.openxmlformats.org/drawingml/2006/main"/>
        </p:blipFill>
        <p:spPr>
          <a:xfrm xmlns:a="http://schemas.openxmlformats.org/drawingml/2006/main">
            <a:off x="552450" y="2076450"/>
            <a:ext cx="6858000" cy="3429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C5A10-AEFB-4088-8C9C-8E107F89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9A2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87A8D-84D2-45B2-8B56-4A13568F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2C5E03-E918-47E3-9C44-15F96E08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1457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A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9A22"/>
                </a:solidFill>
                <a:latin typeface="Aptos"/>
                <a:ea typeface="Aptos"/>
                <a:cs typeface="Aptos"/>
              </a:rPr>
              <a:t>LogReg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825FB4-CED3-4045-9450-0D496E3C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90800"/>
            <a:ext cx="266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Accuracy wzrosło 0.803 -&gt; 0.806, ale F1 spadło 0.759 -&gt; 0.754 i ECE wzrosło 0.025 -&gt; 0.045.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94D0D5-B9EE-419F-8485-651AA80C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6235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B6FB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290715-0B7E-41F9-8CC3-BC280E4D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623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429C83-0C20-4892-8BB6-468068D0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8617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6FB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B6FB6"/>
                </a:solidFill>
                <a:latin typeface="Aptos"/>
                <a:ea typeface="Aptos"/>
                <a:cs typeface="Aptos"/>
              </a:rPr>
              <a:t>MLP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FBFE69-B626-49D3-8B7B-56F4C887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62400"/>
            <a:ext cx="266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Accuracy wzrosło 0.734 -&gt; 0.769, ale MLP nadal miał bardzo wysokie raw ECE ok. 0.162.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3FD635-6344-427A-939C-5DEC26FD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33950"/>
            <a:ext cx="295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FBE787-6ABB-461A-BBD9-8FDE0BBA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3395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C8B530-963E-485B-87BA-7D9E11C4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5777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Decyzja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ED016C-6066-453B-B316-52E69205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340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Nie zmieniałem domyślnych ustawień klasyków tylko po to, żeby mieć więcej epok.</a:t>
            </a:r>
          </a:p>
        </p:txBody>
      </p:sp>
    </p:spTree>
    <p:extLst>
      <p:ext uri="{BB962C8B-B14F-4D97-AF65-F5344CB8AC3E}">
        <p14:creationId xmlns:p14="http://schemas.microsoft.com/office/powerpoint/2010/main" val="38868153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0BECEB-812A-4D61-AF83-4FB70431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AC8CB-51C5-40FC-9DDC-7F7EBB7F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6604C9-A4D5-4D84-A9FE-D5F8482D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746A"/>
                </a:solidFill>
                <a:latin typeface="Aptos"/>
                <a:ea typeface="Aptos"/>
                <a:cs typeface="Aptos"/>
              </a:rPr>
              <a:t>src/disaster_uncertainty/modeling.py oraz reports/metrics_summary.csv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53CDB-6858-4962-895E-300227F3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746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8F613-7864-4FDA-BE3E-67E61B55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60DC6-273F-4658-AFDA-D3E9C817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MLP NA EMBEDDINGACH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397C5-BE33-41DB-BB98-EA21D40F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rPr>
              <a:t>MLP został dodany jako środek między prostym TF-IDF a transformerem.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82ED3-C38B-410C-A365-1351A7C8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To ważne, bo pokazał największą różnicę między jakością klasyfikacji i jakością confidence.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418F3-CB83-4B3A-85E3-51EE8C40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085B41-E90C-4D0B-ABBA-903DB2FB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3AF7D2-49B1-4251-8B1F-C1FD93F8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9552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Tekst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8058B9-A9B6-4667-BCC0-935B060A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tweet + keyword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6A6FF0-A9B6-4876-9820-FCA490B1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527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FC7473-4386-4787-831B-803569D0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003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D0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0C54C3-DD7D-47BC-B790-72FCBF56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33600"/>
            <a:ext cx="200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786BDE-F344-4356-BDAA-7BF6935D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336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F38A0C-4EBF-437C-9091-7381ED7B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9552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Embedding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973348-6E67-4039-86B9-B0CFB836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9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wektor znaczenia tekstu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C47454-014A-418E-9151-077CC3AC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527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164E06-B206-429E-9BFB-D67E9D50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003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D0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9D7222-6457-4236-B36A-76F39986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33600"/>
            <a:ext cx="200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CBB906-7BB4-4949-806B-8F34E496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336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83A5BE-AE36-42E9-ADFA-3361B476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9552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MLP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C0B580-2241-46AF-810E-A47046C3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9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warstwa nieliniowa + dropout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46FB9C-FFCA-4162-AA47-7DDBF0E1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527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5686D8-C112-4B81-8DF7-06D92B34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03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D0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EE1446-95BE-4CF5-9A9C-8220EF0A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33600"/>
            <a:ext cx="200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ED3580-6DF3-462C-B9B8-EF0B8C01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336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E709CD-83BC-4BB6-B98D-C76F8A8E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9552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Prawdopodobieństwo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0A1322-72A3-4ED1-BFB6-7F38BB39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9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P(disaster) i confidence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AEB5EB-B251-42CF-AB98-9EE41513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428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MLP: ECE przed i po kalibracji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ED5F39-63BA-4E60-AD18-C4AFD834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raw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6A72F9-7961-4BF3-92B7-A80D595E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86225"/>
            <a:ext cx="28575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2276E2-3B55-4A62-9814-15F18CF4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86225"/>
            <a:ext cx="2780179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C2CC7D-BC76-48A9-9084-C390D226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2907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.165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B37937-404E-49ED-A401-CBA696B0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temperature scaling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7779E5-9F6B-4354-9E27-05BE905D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543425"/>
            <a:ext cx="28575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447AE4-B4D9-4904-9361-71AB120D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543425"/>
            <a:ext cx="284069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47E314-ED3A-4B5D-841E-F010DEDB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8627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.017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FF84B5-6A19-4216-80E5-AE7B6D93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isotonic regression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22803C-6CFD-44D9-A4B8-33356D37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000625"/>
            <a:ext cx="28575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E165A9-13CC-4A09-ABF8-8BBFDC30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000625"/>
            <a:ext cx="435349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D3C706-DDEB-4678-BB2F-E9464CEC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94347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3B6FB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B6FB6"/>
                </a:solidFill>
                <a:latin typeface="Aptos"/>
                <a:ea typeface="Aptos"/>
                <a:cs typeface="Aptos"/>
              </a:rPr>
              <a:t>.026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2861D0-875F-48FC-8920-306FE410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57600"/>
            <a:ext cx="3714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530515-7FAE-41AA-AA84-79376AD8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576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89F1D4-9C3A-4B45-AD43-A6C66DA7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78142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Dlaczego to jest ciekawe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E188A7-D529-4C78-8F09-694E45A8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057650"/>
            <a:ext cx="342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Accuracy MLP raw wyniosło 0.734, ale ECE aż 0.165. Po temperature scaling accuracy się nie zmieniło, a ECE spadło do 0.017.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9FE7A04-5DCE-4CC8-856A-675F5117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953000"/>
            <a:ext cx="3714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9A2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B3080D7-138E-473C-8909-36BF619E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953000"/>
            <a:ext cx="666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D3FD48F-C60B-405E-9DE5-EB693044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07682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A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9A22"/>
                </a:solidFill>
                <a:latin typeface="Aptos"/>
                <a:ea typeface="Aptos"/>
                <a:cs typeface="Aptos"/>
              </a:rPr>
              <a:t>Wniosek prezentacyjny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D020512-D278-433A-99B2-B771473B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3530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Kalibracja może poprawić wiarygodność prawdopodobieństw bez poprawy klasy 0/1.</a:t>
            </a:r>
          </a:p>
        </p:txBody>
      </p:sp>
    </p:spTree>
    <p:extLst>
      <p:ext uri="{BB962C8B-B14F-4D97-AF65-F5344CB8AC3E}">
        <p14:creationId xmlns:p14="http://schemas.microsoft.com/office/powerpoint/2010/main" val="128124304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9B4381-C9D6-4A65-9B77-6D89836E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02285-B809-42C1-9537-E3E95976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48E40-A8EC-4388-AE49-6F5CE67D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746A"/>
                </a:solidFill>
                <a:latin typeface="Aptos"/>
                <a:ea typeface="Aptos"/>
                <a:cs typeface="Aptos"/>
              </a:rPr>
              <a:t>reports/, reports_more_epochs/, reports_transformers/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B10015-C560-43AF-9940-A4669588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746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E3990-BC72-4092-9062-C5C16CAF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0828EF-014F-4764-974C-A9074CBE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ARTEFAKTY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7900C-8399-43EE-A410-2377FC6A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rPr>
              <a:t>Kod generuje nie tylko jeden wynik, ale pełny pakiet do analizy modelu.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60EC52-4876-4F35-8D56-5A84CDED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To jest praktyczna część projektu: każdy wykres i tabela ma swoje źródło w pliku CSV/Markdown.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14F464-1D35-4F1E-A52A-3DFD868A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1952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A1C258-5C19-4A91-8886-9DCBAD4B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1952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73534-F6FA-4F91-88A3-7114B8B6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5742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metrics_summary.csv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A52B3-9B7A-4B40-B6B1-FC8FE15F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16668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accuracy, precision, recall, F1, log-loss, Brier, ECE, TP/TN/FP/FN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F5629C-81D4-4D10-9B9F-1EBB4B68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590800"/>
            <a:ext cx="295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30FF3E-E576-4445-A3C0-BF383E06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384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D0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D7CA85-5E19-457B-8DCC-A3C78236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95500"/>
            <a:ext cx="1952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A68471-08C6-494D-B609-7219A361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95500"/>
            <a:ext cx="1952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A22527-C31A-4AE4-A34F-A65959AB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5742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reliability_bins.csv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06B454-6652-4C27-B7EF-F83462C1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52700"/>
            <a:ext cx="16668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koszyki confidence do reliability diagram i ECE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30DF9E-668B-4905-A976-203B7B47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590800"/>
            <a:ext cx="295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E7600A-B803-4A32-A7BA-CA498176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384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D0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BB62EF-BB89-4EBE-8B53-4DF44232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1952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8A9308-89AA-4F0A-B5EC-10785EFD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1952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E61A4E-743F-4682-A909-D39BAE8F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5742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rejection_curves.csv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9C6D38-2920-4AFE-B62E-0375ABE4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52700"/>
            <a:ext cx="16668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coverage, rejected, answered, selective accuracy dla progów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ED4FE8-AFAD-4B40-B6E3-3D511373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590800"/>
            <a:ext cx="295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6640CC-F3B4-45AA-B1AC-862BC9AF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384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D0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B112F5-4F33-4B2E-BB9A-787D783C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95500"/>
            <a:ext cx="2381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062A35-6294-40F1-8F89-201346DC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955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9488C9-4BC6-47C1-AFE1-7F11BE9A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57425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error_analysis.csv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958EE4-3967-417F-9F0F-4B1F60DB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2095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kategorie błędów, high-confidence errors i przykłady tweetów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D45520-2FEC-414F-AF50-826A56D1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30003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362D7E-B768-48F3-AEA1-8A8E02C9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FFF8A7-77FF-40BF-B234-FC967C88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38575"/>
            <a:ext cx="2714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Wykresy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2FF70B-93FD-4A39-A762-FEF5C54C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2714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Dla każdej rodziny modelu zapisaliśmy oddzielnie: reliability, rejection, threshold tradeoff, confusion matrix i error categories.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5EB0F5-491D-44FA-B685-BF80B433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30003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B6FB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3A8E3D-3952-4A2D-9651-A7F7A68D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CF860C-ACD5-4CFB-A558-2CFD6FBB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38575"/>
            <a:ext cx="2714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6FB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B6FB6"/>
                </a:solidFill>
                <a:latin typeface="Aptos"/>
                <a:ea typeface="Aptos"/>
                <a:cs typeface="Aptos"/>
              </a:rPr>
              <a:t>Porównania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25D1A1-38A6-4F40-B17A-154C76F4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14800"/>
            <a:ext cx="2714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Osobno powstały raporty dla klasyków, większej liczby epok i DistilBERT. To pozwala uzasadnić, dlaczego nie wybieramy wyniku tylko z jednego przebiegu.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2CAD4F-2B96-4F04-B8F5-8E638E68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14750"/>
            <a:ext cx="30003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9A2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BDBE18-D7E3-4FF2-9908-BF6A434A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147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03F902-A802-438C-A0CB-225DCD52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38575"/>
            <a:ext cx="2714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A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9A22"/>
                </a:solidFill>
                <a:latin typeface="Aptos"/>
                <a:ea typeface="Aptos"/>
                <a:cs typeface="Aptos"/>
              </a:rPr>
              <a:t>Prezentacja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4B8988-AAC8-4429-B50D-274CDEF1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14800"/>
            <a:ext cx="2714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Do slajdów wyciągamy najważniejsze wykresy i liczby, ale pełna ścieżka reprodukcji zostaje w folderach reports.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A89355-9496-471E-A59C-FEEB03CF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81625"/>
            <a:ext cx="876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317BDC-BE99-4CC8-A65A-8166AA07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05450"/>
            <a:ext cx="822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Najważniejsze: raporty nie są demo; to źródło dowodów dla prezentacji i oceny projektu.</a:t>
            </a:r>
          </a:p>
        </p:txBody>
      </p:sp>
    </p:spTree>
    <p:extLst>
      <p:ext uri="{BB962C8B-B14F-4D97-AF65-F5344CB8AC3E}">
        <p14:creationId xmlns:p14="http://schemas.microsoft.com/office/powerpoint/2010/main" val="45616422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A2BEB1-8D31-4473-BFA8-C6802151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786FD4-9654-442D-BD12-6952A4F1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62512A-391A-482C-A0F9-19AEC022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746A"/>
                </a:solidFill>
                <a:latin typeface="Aptos"/>
                <a:ea typeface="Aptos"/>
                <a:cs typeface="Aptos"/>
              </a:rPr>
              <a:t>reports_transformers/distilbert_5epochs/reliability_bins.csv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5ACCB-6C80-481B-9ECA-0F58D4D9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746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4FB47C-B0C0-46B4-8EE0-23AD463F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3D569-AFCC-45BC-A215-5BCEA185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DLACZEGO REJECTION PLOTS BYWAJĄ PŁASKIE?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BD4821-1396-4D73-93E3-B9AFA3B4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rPr>
              <a:t>Jeżeli confidence jest bardzo skupione przy 1.0, niskie progi prawie nic nie odrzucają.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6BC6AD-2424-47D9-92E5-0CCD4CB4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Wtedy wykres zaczyna się zmieniać dopiero przy wysokim tau, np. 0.85 albo 0.90.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96e035ddf742b1"/>
          <a:stretch xmlns:a="http://schemas.openxmlformats.org/drawingml/2006/main"/>
        </p:blipFill>
        <p:spPr>
          <a:xfrm xmlns:a="http://schemas.openxmlformats.org/drawingml/2006/main">
            <a:off x="552450" y="2095500"/>
            <a:ext cx="7239000" cy="3429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32947C-2F9C-4D98-9BF6-43EABEB6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860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4A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E1877F-EDC9-40B8-8024-CFC54D9F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860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293F0A-37F8-498C-B23D-7C69C18D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409825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Raw DistilBERT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D082F-6E43-4B31-8158-69F0A73F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6860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Większość odpowiedzi jest ekstremalnie pewna, więc threshold 0.55-0.75 odrzuca niewiele przykładów.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59D83F-EF27-49E8-AC19-2F999361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3855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FBC4F9-2A09-4217-B0C8-1EB09F35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3855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717ADA-179E-4C82-87B5-E7201DBE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762375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Po kalibracji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2FFFEB-5A14-462B-A830-3BC28ADB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3860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Temperature scaling rozkłada confidence szerzej. Rejection curve robi się bardziej informacyjny.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CD052F-C362-4F9D-BB48-0A12496B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9911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9A2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994816-2396-410E-A865-58E4E330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9911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5BEFE3-82EE-4BB3-81A2-F993D933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114925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A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9A22"/>
                </a:solidFill>
                <a:latin typeface="Aptos"/>
                <a:ea typeface="Aptos"/>
                <a:cs typeface="Aptos"/>
              </a:rPr>
              <a:t>Po co ten wykres?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6E957E-CC6E-448E-89CB-D99056EF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3911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Pokazuje kompromis coverage vs trafność odpowiedzi.</a:t>
            </a:r>
          </a:p>
        </p:txBody>
      </p:sp>
    </p:spTree>
    <p:extLst>
      <p:ext uri="{BB962C8B-B14F-4D97-AF65-F5344CB8AC3E}">
        <p14:creationId xmlns:p14="http://schemas.microsoft.com/office/powerpoint/2010/main" val="179846309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60717D-0518-4E69-B80B-14A53019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940B7-DE74-4260-B183-16AC4776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5AAE2-BD99-498E-8040-B7464316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746A"/>
                </a:solidFill>
                <a:latin typeface="Aptos"/>
                <a:ea typeface="Aptos"/>
                <a:cs typeface="Aptos"/>
              </a:rPr>
              <a:t>reports/conformal_prediction.csv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B5041-8801-4FA2-9903-FC005F65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746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818B9-0AE3-4151-8E2B-7849DA52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B1DE8-D172-4E00-87C4-73C03AB0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CONFORMAL PREDICTION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BD853-BC49-4811-8973-76E5D3D2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rPr>
              <a:t>Conformal prediction daje formalną wersję „nie wiem”: zwraca zbiór klas zamiast jednej klasy.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46F434-7ACD-4E18-905F-7773242B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Dla mniejszego alpha model ma większe pokrycie, ale częściej zwraca niejednoznaczny zbiór {0,1}.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4c0207d5964e8c"/>
          <a:stretch xmlns:a="http://schemas.openxmlformats.org/drawingml/2006/main"/>
        </p:blipFill>
        <p:spPr>
          <a:xfrm xmlns:a="http://schemas.openxmlformats.org/drawingml/2006/main">
            <a:off x="552450" y="2057400"/>
            <a:ext cx="7239000" cy="3429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28F3E-71CD-4B26-B1CE-2DCDC0EE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30003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6FDDAA-05EE-4129-A2CB-E43558FD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666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F8EE8C-3547-4208-B535-762C0D56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14575"/>
            <a:ext cx="2714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alpha = 0.10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8C921C-96ED-49C8-B28A-DF75EC3C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90800"/>
            <a:ext cx="2714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Target coverage 90%, empirical coverage 91.7%. Singleton rate 67.2%, ambiguous rate 32.8%.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D085CD-4FB7-4DC9-80F5-08772BD0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19500"/>
            <a:ext cx="30003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B6FB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068100-C959-4FE2-A892-667D33A8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19500"/>
            <a:ext cx="666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78FD70-05D4-4A8E-9D72-ABCA0323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43325"/>
            <a:ext cx="2714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6FB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B6FB6"/>
                </a:solidFill>
                <a:latin typeface="Aptos"/>
                <a:ea typeface="Aptos"/>
                <a:cs typeface="Aptos"/>
              </a:rPr>
              <a:t>Jak czytać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05C119-5FD1-4FD0-98D6-8727C91D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19550"/>
            <a:ext cx="2714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Jeżeli zbiór predykcji ma jedną klasę, model odpowiada. Jeżeli ma {0,1}, mówimy: przypadek niejednoznaczny.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799573-E28C-4187-B7A1-4B1EFB23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48250"/>
            <a:ext cx="3000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9A2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0BB0ED-00FB-4469-A0B8-AACB6E86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4825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ADF7FD-351C-4A4D-9EC9-8A9614C5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72075"/>
            <a:ext cx="2714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A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9A22"/>
                </a:solidFill>
                <a:latin typeface="Aptos"/>
                <a:ea typeface="Aptos"/>
                <a:cs typeface="Aptos"/>
              </a:rPr>
              <a:t>Różnica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D31FB0-0110-4884-B89F-0DAF035E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48300"/>
            <a:ext cx="2714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Conformal kontroluje coverage, a zwykły reject threshold kontroluje confidence.</a:t>
            </a:r>
          </a:p>
        </p:txBody>
      </p:sp>
    </p:spTree>
    <p:extLst>
      <p:ext uri="{BB962C8B-B14F-4D97-AF65-F5344CB8AC3E}">
        <p14:creationId xmlns:p14="http://schemas.microsoft.com/office/powerpoint/2010/main" val="96149544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CDEC0D-57FA-4EE0-9078-7A0A4162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8BE14-8107-49AD-8D20-5CDBF2D2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A069F-5F97-44B4-8F5C-84F5BDCE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746A"/>
                </a:solidFill>
                <a:latin typeface="Aptos"/>
                <a:ea typeface="Aptos"/>
                <a:cs typeface="Aptos"/>
              </a:rPr>
              <a:t>projekt_2_model_calib_and_uncert.pdf | lokalny kod i raporty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73CDE-94CE-4289-B8E6-C62BCD70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746A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9EB2C6-FC5C-403B-BADF-AB092650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503B0-BA6A-4848-8E3D-E56EA61E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WARUNKI PROJEKTU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42775-34C2-4F6A-9CE0-7E6B32BE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rPr>
              <a:t>Projekt spełnia wymagania techniczne i analityczne.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FF6BA8-0C55-47E4-AE67-FE7E1C66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Poniżej jest checklista tego, co zostało zaimplementowane i gdzie jest widoczne w wynikach; prezentacja porządkuje te dowody.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A330A4-BEF0-4573-9061-D8F63EA5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5E8D87-10F7-4CD9-A2AA-BBA35475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E0FC6-D41E-4AEF-82CE-9EBE28E9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4787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Dataset Kaggle Disaster Tweets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248CC9-9E57-45E0-9E51-1F273C06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47875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nlp-getting-started/train.csv, split 4568/1522/1523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06B75D-E378-4A80-BFD5-FE067770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478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B6FB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B6FB6"/>
                </a:solidFill>
                <a:latin typeface="Aptos"/>
                <a:ea typeface="Aptos"/>
                <a:cs typeface="Aptos"/>
              </a:rPr>
              <a:t>TAK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86C2A9-C178-438F-A67F-FE78F91D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868709-10AD-471D-BD3D-C3B8C6D2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75098D-FFAB-48F5-B867-4059F919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Co najmniej jeden sensowny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539AAE-7D7D-4B22-AB85-A61DA824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24125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LR/NB/SVM TF-IDF, MLP embeddings, DistilBERT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2783A1-FE30-4E17-B7D0-F044DDA6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2412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TAK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1AB3B5-9EF3-4167-B5F1-AD1CE70B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C293C2-474B-470C-93C7-E3EC92CC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87354A-AF2A-426D-9E3D-7A30E880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Metryki baseline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CA725C-3621-462C-B54B-23A2D21A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00375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accuracy, precision, recall, F1, confusion matrix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856F5F-E003-4A74-B57A-DC9733C5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003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FA3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FA36F"/>
                </a:solidFill>
                <a:latin typeface="Aptos"/>
                <a:ea typeface="Aptos"/>
                <a:cs typeface="Aptos"/>
              </a:rPr>
              <a:t>TAK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471932-DD78-4F88-8B0B-2357C563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B5FA48-6B59-41E4-BA08-7FD64350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BA13F9-422C-42FC-B655-8C879D59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Confidence vs correctness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9B2C30-65CD-4E38-B4E6-EAC4C6E8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76625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reliability_bins.csv, reliability diagrams, ECE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E5C042-BB6E-45DF-8ADF-CB47355E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7662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9A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9A22"/>
                </a:solidFill>
                <a:latin typeface="Aptos"/>
                <a:ea typeface="Aptos"/>
                <a:cs typeface="Aptos"/>
              </a:rPr>
              <a:t>TAK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B0B2AF-5EDB-4B9A-B367-FC3C890D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5550B2-71B1-4D92-B01A-ECD450BF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400337-B40A-4132-8936-679E9519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5287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2-3 metody kalibracji/uncertainty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FF757E-5AD8-43AA-A819-960D7802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52875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temperature scaling, isotonic regression, label smoothing, bootstrap ensemble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9E0418-A3E3-48D1-BA1E-4FAFD408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528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TAK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2E5813-7812-44D1-8FAE-A4C811A4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36ADE2-4936-4A51-B00F-D085AE9E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1387A9-C611-4B2C-81C5-B862E615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High-confidence wrong predictions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83CB90-8C4F-4F4F-894E-254D9E45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29125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high_confidence_errors.csv + error_examples.md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1DAE11-56D6-4339-A09C-06699529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2912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TAK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D38285-BE13-41BD-AEEE-B0D686DB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DE8EA9-BBBB-4525-897E-2F777D22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EF27A9-5084-48B5-BACF-5E08C953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0537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Mechanizm „nie wiem”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DC5756-E6AD-4FF9-99EA-F4EE1611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05375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rejection_curves.csv: tau, coverage, rejected, selective accuracy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C43560-D058-492C-AB42-D54BF00A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9053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9A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9A22"/>
                </a:solidFill>
                <a:latin typeface="Aptos"/>
                <a:ea typeface="Aptos"/>
                <a:cs typeface="Aptos"/>
              </a:rPr>
              <a:t>TAK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E0A509-9EB1-4226-A14F-D2237856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753375-7BD2-4AAC-BD46-0D28568B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86C3998-D67D-46DE-9C89-0E3A5F69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8162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Ambitne rozszerzenie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FAE17CF-3F08-4754-910E-4E1EB4B3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381625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split conformal prediction w reports/conformal_prediction.csv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7469CD-4421-4F64-8B9B-EB3EE9D0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38162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B6FB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B6FB6"/>
                </a:solidFill>
                <a:latin typeface="Aptos"/>
                <a:ea typeface="Aptos"/>
                <a:cs typeface="Aptos"/>
              </a:rPr>
              <a:t>TAK</a:t>
            </a:r>
          </a:p>
        </p:txBody>
      </p:sp>
    </p:spTree>
    <p:extLst>
      <p:ext uri="{BB962C8B-B14F-4D97-AF65-F5344CB8AC3E}">
        <p14:creationId xmlns:p14="http://schemas.microsoft.com/office/powerpoint/2010/main" val="171850966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D01AC0-9396-4A08-ACE2-8D92C48C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86042-E8DB-401D-9273-ED6762C0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F4A0D-FDFE-494D-A9D4-4F24A971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746A"/>
                </a:solidFill>
                <a:latin typeface="Aptos"/>
                <a:ea typeface="Aptos"/>
                <a:cs typeface="Aptos"/>
              </a:rPr>
              <a:t>README.md, requirements.txt, requirements-transformers.txt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A9467-23B8-4B8F-A4E9-83AC03C8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746A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07D2E-4A20-452B-A791-145A17CB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A013A5-6343-4CB6-A93E-2350197B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URUCHAMIANIE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7BC220-23DB-4082-B352-6BFC6EBB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rPr>
              <a:t>Klasyczne modele są lekkie, transformer jest głównym kosztem obliczeniowym.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EDB67-EB1D-4357-8F82-F08BD803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Do prezentacji warto powiedzieć, że pełny DistilBERT działa lokalnie, ale Llama-3-8B do fine-tuningu byłby osobnym, ciężkim wariantem.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C25463-BCDF-43B2-8C28-48CE881B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857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13335">
            <a:solidFill>
              <a:srgbClr val="168A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AA63F-0782-4D6A-8763-4E1962DE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Eksperyment klasyczny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7F9F89-60B0-412B-BA55-B5FF45AD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45148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3EFE7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3EFE7"/>
                </a:solidFill>
                <a:latin typeface="Aptos Mono"/>
                <a:ea typeface="Aptos Mono"/>
                <a:cs typeface="Aptos Mono"/>
              </a:rPr>
              <a:t>python run_experiment.py \</a:t>
            </a:r>
          </a:p>
          <a:p xmlns:a="http://schemas.openxmlformats.org/drawingml/2006/main">
            <a:pPr algn="l">
              <a:defRPr sz="900" b="0">
                <a:solidFill>
                  <a:srgbClr val="F3EFE7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3EFE7"/>
                </a:solidFill>
                <a:latin typeface="Aptos Mono"/>
                <a:ea typeface="Aptos Mono"/>
                <a:cs typeface="Aptos Mono"/>
              </a:rPr>
              <a:t>  --train-csv nlp-getting-started/train.csv \</a:t>
            </a:r>
          </a:p>
          <a:p xmlns:a="http://schemas.openxmlformats.org/drawingml/2006/main">
            <a:pPr algn="l">
              <a:defRPr sz="900" b="0">
                <a:solidFill>
                  <a:srgbClr val="F3EFE7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3EFE7"/>
                </a:solidFill>
                <a:latin typeface="Aptos Mono"/>
                <a:ea typeface="Aptos Mono"/>
                <a:cs typeface="Aptos Mono"/>
              </a:rPr>
              <a:t>  --output-dir reports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1A1677-1462-4FD6-80F9-9143BA91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857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13335">
            <a:solidFill>
              <a:srgbClr val="3B6FB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ABDBE8-E4C9-4B21-82ED-E684F632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B6F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B6FB6"/>
                </a:solidFill>
                <a:latin typeface="Aptos"/>
                <a:ea typeface="Aptos"/>
                <a:cs typeface="Aptos"/>
              </a:rPr>
              <a:t>DistilBERT 5 epok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0F182E-813B-4C08-A4CD-24C195A1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45148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3EFE7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3EFE7"/>
                </a:solidFill>
                <a:latin typeface="Aptos Mono"/>
                <a:ea typeface="Aptos Mono"/>
                <a:cs typeface="Aptos Mono"/>
              </a:rPr>
              <a:t>.venv-transformers/bin/python run_transformer_experiment.py \</a:t>
            </a:r>
          </a:p>
          <a:p xmlns:a="http://schemas.openxmlformats.org/drawingml/2006/main">
            <a:pPr algn="l">
              <a:defRPr sz="900" b="0">
                <a:solidFill>
                  <a:srgbClr val="F3EFE7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3EFE7"/>
                </a:solidFill>
                <a:latin typeface="Aptos Mono"/>
                <a:ea typeface="Aptos Mono"/>
                <a:cs typeface="Aptos Mono"/>
              </a:rPr>
              <a:t>  --train-csv nlp-getting-started/train.csv \</a:t>
            </a:r>
          </a:p>
          <a:p xmlns:a="http://schemas.openxmlformats.org/drawingml/2006/main">
            <a:pPr algn="l">
              <a:defRPr sz="900" b="0">
                <a:solidFill>
                  <a:srgbClr val="F3EFE7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3EFE7"/>
                </a:solidFill>
                <a:latin typeface="Aptos Mono"/>
                <a:ea typeface="Aptos Mono"/>
                <a:cs typeface="Aptos Mono"/>
              </a:rPr>
              <a:t>  --model-name distilbert-base-uncased \</a:t>
            </a:r>
          </a:p>
          <a:p xmlns:a="http://schemas.openxmlformats.org/drawingml/2006/main">
            <a:pPr algn="l">
              <a:defRPr sz="900" b="0">
                <a:solidFill>
                  <a:srgbClr val="F3EFE7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3EFE7"/>
                </a:solidFill>
                <a:latin typeface="Aptos Mono"/>
                <a:ea typeface="Aptos Mono"/>
                <a:cs typeface="Aptos Mono"/>
              </a:rPr>
              <a:t>  --output-dir reports_transformers/distilbert_5epochs \</a:t>
            </a:r>
          </a:p>
          <a:p xmlns:a="http://schemas.openxmlformats.org/drawingml/2006/main">
            <a:pPr algn="l">
              <a:defRPr sz="900" b="0">
                <a:solidFill>
                  <a:srgbClr val="F3EFE7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3EFE7"/>
                </a:solidFill>
                <a:latin typeface="Aptos Mono"/>
                <a:ea typeface="Aptos Mono"/>
                <a:cs typeface="Aptos Mono"/>
              </a:rPr>
              <a:t>  --epochs 5 --batch-size 8 --local-files-only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6B1BBE-6A47-47C1-BB45-2F3AE7C1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88CF09-4A74-45FB-9F9B-570EF80B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DBD556-447C-4498-90F8-FFFD17A5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14575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CPU wystarczy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1DDF9C-5B54-4583-A8D7-6575E597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9080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TF-IDF + klasyczne modele i MLP na tym datasie nie wymagają dużej mocy. To jest część szybka i odtwarzalna.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A8A5CF-0319-484F-920B-95802ABE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76625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9A2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B99254-F4C7-4A56-A231-73BBAF09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76625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BE3F6A-76CD-4936-A1FA-CA149A88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004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A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9A22"/>
                </a:solidFill>
                <a:latin typeface="Aptos"/>
                <a:ea typeface="Aptos"/>
                <a:cs typeface="Aptos"/>
              </a:rPr>
              <a:t>Transformer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660E86-AA8A-4023-A222-E6F8F4FF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76675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DistilBERT 5 epok: ok. 416 sekund na MPS. Bez GPU/MPS będzie wolniej, ale nadal jest to mały transformer.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F7AAFB-1DC4-46B6-8EA8-0DFDDD49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4A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2F938B-8254-4B19-89D5-26917222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6DD62D-BAE8-4EF3-93D1-0583BF04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86325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Llama-3-8B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2684E6-67A6-4A4C-9AFB-530A9CD4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6255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Pełny fine-tuning 8B nie pasuje do tego samego budżetu lokalnego. Sensowniejszy byłby LoRA/QLoRA albo użycie gotowych embeddings.</a:t>
            </a:r>
          </a:p>
        </p:txBody>
      </p:sp>
    </p:spTree>
    <p:extLst>
      <p:ext uri="{BB962C8B-B14F-4D97-AF65-F5344CB8AC3E}">
        <p14:creationId xmlns:p14="http://schemas.microsoft.com/office/powerpoint/2010/main" val="154402579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E77E34-A21D-4F99-8385-7992469B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C533F-C459-4EF5-A0CD-A14DC433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F1B1A-141A-41A8-9F29-44CF1F01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746A"/>
                </a:solidFill>
                <a:latin typeface="Aptos"/>
                <a:ea typeface="Aptos"/>
                <a:cs typeface="Aptos"/>
              </a:rPr>
              <a:t>Podsumowanie projektu: modele, kalibracja, odrzucanie, conformal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17C45-F9CF-4CA4-A892-370002A1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746A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233A5-3ADA-4D31-962F-E6E8100F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9CBA0-714B-4BF2-882F-FB411B89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WNIOSKI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2DA33-1BF3-462C-B878-3B66CCEB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rPr>
              <a:t>Najlepszy projektowy wynik to procedura decyzyjna, nie tylko jeden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D89A0-C950-4021-9865-A89F76D0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Model ma zwracać klasę wtedy, gdy jego skalibrowana pewność jest wystarczająca dla kosztu błędu.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4CBC9-8A6B-48AD-88AA-DF79F961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6CB969-D4AB-43D1-A914-90759F7A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09DF6F-4C45-4001-9444-17277CCD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1828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B6FB6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3B6FB6"/>
                </a:solidFill>
                <a:latin typeface="Aptos Display"/>
                <a:ea typeface="Aptos Display"/>
                <a:cs typeface="Aptos Display"/>
              </a:rPr>
              <a:t>0.832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82EEAC-6D30-4F93-ACD7-B50DDF9F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73DA74-D38C-4905-A765-6EA0D38A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DistilBERT 5 epok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58EB21-00A4-4AA3-B47D-E1848C6B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2405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F594AF-93A3-4CA2-8752-A4936081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240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A7EE33-E309-4F53-97E8-225B12C3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57400"/>
            <a:ext cx="1828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8A7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68A7A"/>
                </a:solidFill>
                <a:latin typeface="Aptos Display"/>
                <a:ea typeface="Aptos Display"/>
                <a:cs typeface="Aptos Display"/>
              </a:rPr>
              <a:t>0.015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0D2308-9529-4AB0-939E-8D990B5E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0982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najniższe ECE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E3953A-E6EA-4324-8991-E5F4BD20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2890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Naive Bayes + isotonic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A0BBCE-7428-4BA2-963F-E9F7C9BB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2405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6E5ACD-3F10-4ABF-8736-0CFB9EF6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240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E66D2E-3C4B-4D88-9628-D7BB8767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57400"/>
            <a:ext cx="1828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99A22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D99A22"/>
                </a:solidFill>
                <a:latin typeface="Aptos Display"/>
                <a:ea typeface="Aptos Display"/>
                <a:cs typeface="Aptos Display"/>
              </a:rPr>
              <a:t>0.917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D2CAE1-E898-419E-9A80-D63E80CF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0982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coverage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232741-1929-428A-AA9E-8E7C1797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2890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conformal alpha=0.10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48C5AA-9CA8-47CA-8A18-DFCF1B46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2405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7A5B6F-614B-4151-BE7F-05D50A0C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240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BE20F4-BF5E-403E-A7AD-261FE6B1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57400"/>
            <a:ext cx="1828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FA36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5FA36F"/>
                </a:solidFill>
                <a:latin typeface="Aptos Display"/>
                <a:ea typeface="Aptos Display"/>
                <a:cs typeface="Aptos Display"/>
              </a:rPr>
              <a:t>0.873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AF7A0B-99F6-4225-8370-F8CD3B3A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0982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selective acc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11359A-60CC-41E5-84A4-E01B3C9C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2890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tau=0.70, isotonic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C70508-B160-4506-BE72-18B7F962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3048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53952F-E220-4762-9AF5-4EA75E5B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E07C01-63AD-49D8-B6C3-6FBBAC2E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48075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Co powiedzieć o wynikach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30B752-99CC-4438-B063-74CC7E33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2762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ECE bliskie baseline'u nie jest błędem. To oznacza, że część modeli była już nieźle skalibrowana; najważniejsze zyski widać dla MLP, SVM i DistilBERT.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FC75BB-91EA-416B-A5FD-99818823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24250"/>
            <a:ext cx="3048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B6FB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A9B4AB-E9AA-4262-8FF6-78853B65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2425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196681-2552-406D-BB8A-DD1BC557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48075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6FB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B6FB6"/>
                </a:solidFill>
                <a:latin typeface="Aptos"/>
                <a:ea typeface="Aptos"/>
                <a:cs typeface="Aptos"/>
              </a:rPr>
              <a:t>Co wyróżnia projekt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EE87BA-FB12-460C-931F-C93622D7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24300"/>
            <a:ext cx="2762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Są modele klasyczne i transformer, kilka metod kalibracji, macierze TP/TN/FP/FN, analiza high-confidence errors oraz prosty conformal prediction.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40162C-B776-4C1E-8769-78E4F5F1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24250"/>
            <a:ext cx="3048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9A2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38F004-DA13-4F05-840B-A94A002B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2425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D5A72D-2FFA-4CF3-9582-05ECAE9A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48075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A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9A22"/>
                </a:solidFill>
                <a:latin typeface="Aptos"/>
                <a:ea typeface="Aptos"/>
                <a:cs typeface="Aptos"/>
              </a:rPr>
              <a:t>Kiedy mówić „nie wiem”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C98DCE-D272-4132-940A-2E7E0655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924300"/>
            <a:ext cx="2762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Gdy koszt pomyłki jest większy niż koszt odrzucenia. Próg tau trzeba dobrać do wymaganej coverage i selective accuracy.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56A08B-F73C-4A99-A302-91FD5B4A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86375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6F36095-B794-4A2C-A1FC-FBFC8DC3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38775"/>
            <a:ext cx="880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Finalna rekomendacja: DistilBERT 5 epok + kalibracja isotonic/temperature; próg „nie wiem” wybierany według kosztu błędu.</a:t>
            </a:r>
          </a:p>
        </p:txBody>
      </p:sp>
    </p:spTree>
    <p:extLst>
      <p:ext uri="{BB962C8B-B14F-4D97-AF65-F5344CB8AC3E}">
        <p14:creationId xmlns:p14="http://schemas.microsoft.com/office/powerpoint/2010/main" val="3829553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2026-06-10T22:22:08.2750000Z</dcterms:created>
  <dcterms:modified xsi:type="dcterms:W3CDTF">2026-06-10T22:22:08.2750000Z</dcterms:modified>
</coreProperties>
</file>